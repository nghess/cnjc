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256" r:id="rId2"/>
    <p:sldId id="258" r:id="rId3"/>
    <p:sldId id="267" r:id="rId4"/>
    <p:sldId id="271" r:id="rId5"/>
    <p:sldId id="268" r:id="rId6"/>
    <p:sldId id="263" r:id="rId7"/>
    <p:sldId id="273" r:id="rId8"/>
    <p:sldId id="264" r:id="rId9"/>
    <p:sldId id="259" r:id="rId10"/>
    <p:sldId id="269" r:id="rId11"/>
    <p:sldId id="270" r:id="rId12"/>
    <p:sldId id="265" r:id="rId13"/>
    <p:sldId id="266" r:id="rId14"/>
    <p:sldId id="261" r:id="rId15"/>
    <p:sldId id="260" r:id="rId16"/>
    <p:sldId id="278" r:id="rId17"/>
    <p:sldId id="262" r:id="rId18"/>
    <p:sldId id="274" r:id="rId19"/>
    <p:sldId id="275" r:id="rId20"/>
    <p:sldId id="276" r:id="rId21"/>
    <p:sldId id="272" r:id="rId22"/>
    <p:sldId id="279" r:id="rId23"/>
    <p:sldId id="277" r:id="rId24"/>
    <p:sldId id="280"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60775" autoAdjust="0"/>
  </p:normalViewPr>
  <p:slideViewPr>
    <p:cSldViewPr snapToGrid="0">
      <p:cViewPr varScale="1">
        <p:scale>
          <a:sx n="67" d="100"/>
          <a:sy n="67" d="100"/>
        </p:scale>
        <p:origin x="2274" y="66"/>
      </p:cViewPr>
      <p:guideLst/>
    </p:cSldViewPr>
  </p:slideViewPr>
  <p:notesTextViewPr>
    <p:cViewPr>
      <p:scale>
        <a:sx n="75" d="100"/>
        <a:sy n="7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B6B6A96-8BBA-4834-99BB-88BD7678F1C9}" type="datetimeFigureOut">
              <a:rPr lang="en-US" smtClean="0"/>
              <a:t>9/11/2024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76D2508-6CFC-49DF-B37C-195BC9890402}" type="slidenum">
              <a:rPr lang="en-US" smtClean="0"/>
              <a:t>‹#›</a:t>
            </a:fld>
            <a:endParaRPr lang="en-US"/>
          </a:p>
        </p:txBody>
      </p:sp>
    </p:spTree>
    <p:extLst>
      <p:ext uri="{BB962C8B-B14F-4D97-AF65-F5344CB8AC3E}">
        <p14:creationId xmlns:p14="http://schemas.microsoft.com/office/powerpoint/2010/main" val="31834975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 seeks to identify neural correlates of psilocybin-induced mystical experience </a:t>
            </a:r>
          </a:p>
        </p:txBody>
      </p:sp>
      <p:sp>
        <p:nvSpPr>
          <p:cNvPr id="4" name="Slide Number Placeholder 3"/>
          <p:cNvSpPr>
            <a:spLocks noGrp="1"/>
          </p:cNvSpPr>
          <p:nvPr>
            <p:ph type="sldNum" sz="quarter" idx="5"/>
          </p:nvPr>
        </p:nvSpPr>
        <p:spPr/>
        <p:txBody>
          <a:bodyPr/>
          <a:lstStyle/>
          <a:p>
            <a:fld id="{D76D2508-6CFC-49DF-B37C-195BC9890402}" type="slidenum">
              <a:rPr lang="en-US" smtClean="0"/>
              <a:t>1</a:t>
            </a:fld>
            <a:endParaRPr lang="en-US"/>
          </a:p>
        </p:txBody>
      </p:sp>
    </p:spTree>
    <p:extLst>
      <p:ext uri="{BB962C8B-B14F-4D97-AF65-F5344CB8AC3E}">
        <p14:creationId xmlns:p14="http://schemas.microsoft.com/office/powerpoint/2010/main" val="22716111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a decade of hype, psychedelic research has moved toward deeper study of neural mechanisms of the psychedelic experience and its potential benefits</a:t>
            </a:r>
          </a:p>
          <a:p>
            <a:endParaRPr lang="en-US" dirty="0"/>
          </a:p>
        </p:txBody>
      </p:sp>
      <p:sp>
        <p:nvSpPr>
          <p:cNvPr id="4" name="Slide Number Placeholder 3"/>
          <p:cNvSpPr>
            <a:spLocks noGrp="1"/>
          </p:cNvSpPr>
          <p:nvPr>
            <p:ph type="sldNum" sz="quarter" idx="5"/>
          </p:nvPr>
        </p:nvSpPr>
        <p:spPr/>
        <p:txBody>
          <a:bodyPr/>
          <a:lstStyle/>
          <a:p>
            <a:fld id="{D76D2508-6CFC-49DF-B37C-195BC9890402}" type="slidenum">
              <a:rPr lang="en-US" smtClean="0"/>
              <a:t>2</a:t>
            </a:fld>
            <a:endParaRPr lang="en-US"/>
          </a:p>
        </p:txBody>
      </p:sp>
    </p:spTree>
    <p:extLst>
      <p:ext uri="{BB962C8B-B14F-4D97-AF65-F5344CB8AC3E}">
        <p14:creationId xmlns:p14="http://schemas.microsoft.com/office/powerpoint/2010/main" val="3552642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After a decade of hype, psychedelic research has moved toward deeper study of neural mechanisms of the psychedelic experience and its potential benefits</a:t>
            </a:r>
          </a:p>
          <a:p>
            <a:endParaRPr lang="en-US" dirty="0"/>
          </a:p>
        </p:txBody>
      </p:sp>
      <p:sp>
        <p:nvSpPr>
          <p:cNvPr id="4" name="Slide Number Placeholder 3"/>
          <p:cNvSpPr>
            <a:spLocks noGrp="1"/>
          </p:cNvSpPr>
          <p:nvPr>
            <p:ph type="sldNum" sz="quarter" idx="5"/>
          </p:nvPr>
        </p:nvSpPr>
        <p:spPr/>
        <p:txBody>
          <a:bodyPr/>
          <a:lstStyle/>
          <a:p>
            <a:fld id="{D76D2508-6CFC-49DF-B37C-195BC9890402}" type="slidenum">
              <a:rPr lang="en-US" smtClean="0"/>
              <a:t>3</a:t>
            </a:fld>
            <a:endParaRPr lang="en-US"/>
          </a:p>
        </p:txBody>
      </p:sp>
    </p:spTree>
    <p:extLst>
      <p:ext uri="{BB962C8B-B14F-4D97-AF65-F5344CB8AC3E}">
        <p14:creationId xmlns:p14="http://schemas.microsoft.com/office/powerpoint/2010/main" val="31974736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40mg Ritalin is dose-matched to 25mg psilocybin for arousal effects.</a:t>
            </a:r>
          </a:p>
        </p:txBody>
      </p:sp>
      <p:sp>
        <p:nvSpPr>
          <p:cNvPr id="4" name="Slide Number Placeholder 3"/>
          <p:cNvSpPr>
            <a:spLocks noGrp="1"/>
          </p:cNvSpPr>
          <p:nvPr>
            <p:ph type="sldNum" sz="quarter" idx="5"/>
          </p:nvPr>
        </p:nvSpPr>
        <p:spPr/>
        <p:txBody>
          <a:bodyPr/>
          <a:lstStyle/>
          <a:p>
            <a:fld id="{D76D2508-6CFC-49DF-B37C-195BC9890402}" type="slidenum">
              <a:rPr lang="en-US" smtClean="0"/>
              <a:t>4</a:t>
            </a:fld>
            <a:endParaRPr lang="en-US"/>
          </a:p>
        </p:txBody>
      </p:sp>
    </p:spTree>
    <p:extLst>
      <p:ext uri="{BB962C8B-B14F-4D97-AF65-F5344CB8AC3E}">
        <p14:creationId xmlns:p14="http://schemas.microsoft.com/office/powerpoint/2010/main" val="21618355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Are these days or weeks?</a:t>
            </a:r>
            <a:endParaRPr lang="en-US" dirty="0"/>
          </a:p>
          <a:p>
            <a:endParaRPr lang="en-US" dirty="0"/>
          </a:p>
        </p:txBody>
      </p:sp>
      <p:sp>
        <p:nvSpPr>
          <p:cNvPr id="4" name="Slide Number Placeholder 3"/>
          <p:cNvSpPr>
            <a:spLocks noGrp="1"/>
          </p:cNvSpPr>
          <p:nvPr>
            <p:ph type="sldNum" sz="quarter" idx="5"/>
          </p:nvPr>
        </p:nvSpPr>
        <p:spPr/>
        <p:txBody>
          <a:bodyPr/>
          <a:lstStyle/>
          <a:p>
            <a:fld id="{D76D2508-6CFC-49DF-B37C-195BC9890402}" type="slidenum">
              <a:rPr lang="en-US" smtClean="0"/>
              <a:t>5</a:t>
            </a:fld>
            <a:endParaRPr lang="en-US"/>
          </a:p>
        </p:txBody>
      </p:sp>
    </p:spTree>
    <p:extLst>
      <p:ext uri="{BB962C8B-B14F-4D97-AF65-F5344CB8AC3E}">
        <p14:creationId xmlns:p14="http://schemas.microsoft.com/office/powerpoint/2010/main" val="25901954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put the effects of psilocybin into perspective, it helps to consider that the mean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changes in brain organization caused by the drug were as large as the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differences in brain organization between different people</a:t>
            </a:r>
          </a:p>
        </p:txBody>
      </p:sp>
      <p:sp>
        <p:nvSpPr>
          <p:cNvPr id="4" name="Slide Number Placeholder 3"/>
          <p:cNvSpPr>
            <a:spLocks noGrp="1"/>
          </p:cNvSpPr>
          <p:nvPr>
            <p:ph type="sldNum" sz="quarter" idx="5"/>
          </p:nvPr>
        </p:nvSpPr>
        <p:spPr/>
        <p:txBody>
          <a:bodyPr/>
          <a:lstStyle/>
          <a:p>
            <a:fld id="{D76D2508-6CFC-49DF-B37C-195BC9890402}" type="slidenum">
              <a:rPr lang="en-US" smtClean="0"/>
              <a:t>6</a:t>
            </a:fld>
            <a:endParaRPr lang="en-US"/>
          </a:p>
        </p:txBody>
      </p:sp>
    </p:spTree>
    <p:extLst>
      <p:ext uri="{BB962C8B-B14F-4D97-AF65-F5344CB8AC3E}">
        <p14:creationId xmlns:p14="http://schemas.microsoft.com/office/powerpoint/2010/main" val="224645710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sz="1800" b="0" i="0" u="none" strike="noStrike" baseline="0" dirty="0">
                <a:latin typeface="HardingText-Regular"/>
              </a:rPr>
              <a:t>MDS blind to</a:t>
            </a:r>
          </a:p>
          <a:p>
            <a:pPr algn="l"/>
            <a:r>
              <a:rPr lang="en-US" sz="1800" b="0" i="0" u="none" strike="noStrike" baseline="0" dirty="0">
                <a:latin typeface="HardingText-Regular"/>
              </a:rPr>
              <a:t>session labels was used to assess brain changes across conditions. </a:t>
            </a:r>
            <a:r>
              <a:rPr lang="en-US" sz="1800" b="1" i="0" u="none" strike="noStrike" baseline="0" dirty="0">
                <a:latin typeface="HardingText-Bold"/>
              </a:rPr>
              <a:t>a</a:t>
            </a:r>
            <a:r>
              <a:rPr lang="en-US" sz="1800" b="0" i="0" u="none" strike="noStrike" baseline="0" dirty="0">
                <a:latin typeface="HardingText-Regular"/>
              </a:rPr>
              <a:t>, In the</a:t>
            </a:r>
          </a:p>
          <a:p>
            <a:pPr algn="l"/>
            <a:r>
              <a:rPr lang="en-US" sz="1800" b="0" i="0" u="none" strike="noStrike" baseline="0" dirty="0">
                <a:latin typeface="HardingText-Regular"/>
              </a:rPr>
              <a:t>scatter plots, each point represents whole-brain FC from a single 15 min scan,</a:t>
            </a:r>
          </a:p>
          <a:p>
            <a:pPr algn="l"/>
            <a:r>
              <a:rPr lang="en-US" sz="1800" b="0" i="0" u="none" strike="noStrike" baseline="0" dirty="0">
                <a:latin typeface="HardingText-Regular"/>
              </a:rPr>
              <a:t>plotted in a multidimensional space on the basis of the similarity between scans.</a:t>
            </a:r>
          </a:p>
          <a:p>
            <a:pPr algn="l"/>
            <a:r>
              <a:rPr lang="en-US" sz="1800" b="0" i="0" u="none" strike="noStrike" baseline="0" dirty="0">
                <a:latin typeface="HardingText-Regular"/>
              </a:rPr>
              <a:t>Dimensions 1 and 4 showed strong effects of psilocybin. The top shows scans</a:t>
            </a:r>
          </a:p>
          <a:p>
            <a:pPr algn="l"/>
            <a:r>
              <a:rPr lang="en-US" sz="1800" b="0" i="0" u="none" strike="noStrike" baseline="0" dirty="0">
                <a:latin typeface="HardingText-Regular"/>
              </a:rPr>
              <a:t>coded on the basis of drug condition. Dark red denotes that the participant had</a:t>
            </a:r>
          </a:p>
          <a:p>
            <a:pPr algn="l"/>
            <a:r>
              <a:rPr lang="en-US" sz="1800" b="0" i="0" u="none" strike="noStrike" baseline="0" dirty="0">
                <a:latin typeface="HardingText-Regular"/>
              </a:rPr>
              <a:t>an episode of emesis shortly after taking psilocybin. The bottom shows scans</a:t>
            </a:r>
          </a:p>
          <a:p>
            <a:pPr algn="l"/>
            <a:r>
              <a:rPr lang="en-US" sz="1800" b="0" i="0" u="none" strike="noStrike" baseline="0" dirty="0" err="1">
                <a:latin typeface="HardingText-Regular"/>
              </a:rPr>
              <a:t>coloured</a:t>
            </a:r>
            <a:r>
              <a:rPr lang="en-US" sz="1800" b="0" i="0" u="none" strike="noStrike" baseline="0" dirty="0">
                <a:latin typeface="HardingText-Regular"/>
              </a:rPr>
              <a:t> on the basis of participant identity. Dimension 1 separates psilocybin</a:t>
            </a:r>
          </a:p>
          <a:p>
            <a:pPr algn="l"/>
            <a:r>
              <a:rPr lang="en-US" sz="1800" b="0" i="0" u="none" strike="noStrike" baseline="0" dirty="0">
                <a:latin typeface="HardingText-Regular"/>
              </a:rPr>
              <a:t>from non-drug and MTP scans in most cases</a:t>
            </a:r>
            <a:endParaRPr lang="en-US" dirty="0"/>
          </a:p>
        </p:txBody>
      </p:sp>
      <p:sp>
        <p:nvSpPr>
          <p:cNvPr id="4" name="Slide Number Placeholder 3"/>
          <p:cNvSpPr>
            <a:spLocks noGrp="1"/>
          </p:cNvSpPr>
          <p:nvPr>
            <p:ph type="sldNum" sz="quarter" idx="5"/>
          </p:nvPr>
        </p:nvSpPr>
        <p:spPr/>
        <p:txBody>
          <a:bodyPr/>
          <a:lstStyle/>
          <a:p>
            <a:fld id="{D76D2508-6CFC-49DF-B37C-195BC9890402}" type="slidenum">
              <a:rPr lang="en-US" smtClean="0"/>
              <a:t>7</a:t>
            </a:fld>
            <a:endParaRPr lang="en-US"/>
          </a:p>
        </p:txBody>
      </p:sp>
    </p:spTree>
    <p:extLst>
      <p:ext uri="{BB962C8B-B14F-4D97-AF65-F5344CB8AC3E}">
        <p14:creationId xmlns:p14="http://schemas.microsoft.com/office/powerpoint/2010/main" val="12582003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NGSC is derived from the number of spatial principal components needed to explain the underlying structure. The plot to the right in fig 2a shows that under psilocybin, more principal components are needed to explain variance.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authors take NGSC to represent desynchronization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Multi-unit recording studies suggest that agonism of 5-HT2A receptors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by psychedelics desynchronizes populations of neurons that typically co-activate</a:t>
            </a:r>
          </a:p>
          <a:p>
            <a:endParaRPr lang="en-US" dirty="0"/>
          </a:p>
          <a:p>
            <a:r>
              <a:rPr lang="en-US" dirty="0" err="1"/>
              <a:t>Psilocybinand</a:t>
            </a:r>
            <a:r>
              <a:rPr lang="en-US" dirty="0"/>
              <a:t>-</a:t>
            </a:r>
            <a:r>
              <a:rPr lang="en-US" dirty="0" err="1"/>
              <a:t>lsd</a:t>
            </a:r>
            <a:r>
              <a:rPr lang="en-US" dirty="0"/>
              <a:t>-associated increases in entropy were largest in association cortex and reflected the density of serotonin 2a receptors</a:t>
            </a:r>
          </a:p>
        </p:txBody>
      </p:sp>
      <p:sp>
        <p:nvSpPr>
          <p:cNvPr id="4" name="Slide Number Placeholder 3"/>
          <p:cNvSpPr>
            <a:spLocks noGrp="1"/>
          </p:cNvSpPr>
          <p:nvPr>
            <p:ph type="sldNum" sz="quarter" idx="5"/>
          </p:nvPr>
        </p:nvSpPr>
        <p:spPr/>
        <p:txBody>
          <a:bodyPr/>
          <a:lstStyle/>
          <a:p>
            <a:fld id="{D76D2508-6CFC-49DF-B37C-195BC9890402}" type="slidenum">
              <a:rPr lang="en-US" smtClean="0"/>
              <a:t>8</a:t>
            </a:fld>
            <a:endParaRPr lang="en-US"/>
          </a:p>
        </p:txBody>
      </p:sp>
    </p:spTree>
    <p:extLst>
      <p:ext uri="{BB962C8B-B14F-4D97-AF65-F5344CB8AC3E}">
        <p14:creationId xmlns:p14="http://schemas.microsoft.com/office/powerpoint/2010/main" val="2632247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dirty="0" err="1"/>
              <a:t>Transcendance</a:t>
            </a:r>
            <a:r>
              <a:rPr lang="en-US" dirty="0"/>
              <a:t> correlated most closely with FC changes (I also think it’s the lowest common denominator and lowest threshold effect)</a:t>
            </a:r>
          </a:p>
        </p:txBody>
      </p:sp>
      <p:sp>
        <p:nvSpPr>
          <p:cNvPr id="4" name="Slide Number Placeholder 3"/>
          <p:cNvSpPr>
            <a:spLocks noGrp="1"/>
          </p:cNvSpPr>
          <p:nvPr>
            <p:ph type="sldNum" sz="quarter" idx="5"/>
          </p:nvPr>
        </p:nvSpPr>
        <p:spPr/>
        <p:txBody>
          <a:bodyPr/>
          <a:lstStyle/>
          <a:p>
            <a:fld id="{D76D2508-6CFC-49DF-B37C-195BC9890402}" type="slidenum">
              <a:rPr lang="en-US" smtClean="0"/>
              <a:t>9</a:t>
            </a:fld>
            <a:endParaRPr lang="en-US"/>
          </a:p>
        </p:txBody>
      </p:sp>
    </p:spTree>
    <p:extLst>
      <p:ext uri="{BB962C8B-B14F-4D97-AF65-F5344CB8AC3E}">
        <p14:creationId xmlns:p14="http://schemas.microsoft.com/office/powerpoint/2010/main" val="3755563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sz="1800" b="0" i="0" u="none" strike="noStrike" baseline="0" dirty="0">
                <a:latin typeface="HardingText-Regular"/>
              </a:rPr>
              <a:t>This was a suprathreshold auditory–visual matching task in which</a:t>
            </a:r>
          </a:p>
          <a:p>
            <a:pPr algn="l"/>
            <a:r>
              <a:rPr lang="en-US" sz="1800" b="0" i="0" u="none" strike="noStrike" baseline="0" dirty="0">
                <a:latin typeface="HardingText-Regular"/>
              </a:rPr>
              <a:t>participants were presented with a naturalistic visual image (duration</a:t>
            </a:r>
          </a:p>
          <a:p>
            <a:pPr algn="l"/>
            <a:r>
              <a:rPr lang="en-US" sz="1800" b="0" i="0" u="none" strike="noStrike" baseline="0" dirty="0">
                <a:latin typeface="HardingText-Regular"/>
              </a:rPr>
              <a:t>500 </a:t>
            </a:r>
            <a:r>
              <a:rPr lang="en-US" sz="1800" b="0" i="0" u="none" strike="noStrike" baseline="0" dirty="0" err="1">
                <a:latin typeface="HardingText-Regular"/>
              </a:rPr>
              <a:t>ms</a:t>
            </a:r>
            <a:r>
              <a:rPr lang="en-US" sz="1800" b="0" i="0" u="none" strike="noStrike" baseline="0" dirty="0">
                <a:latin typeface="HardingText-Regular"/>
              </a:rPr>
              <a:t>) and coincident spoken English phrase, and were asked to</a:t>
            </a:r>
          </a:p>
          <a:p>
            <a:pPr algn="l"/>
            <a:r>
              <a:rPr lang="en-US" sz="1800" b="0" i="0" u="none" strike="noStrike" baseline="0" dirty="0">
                <a:latin typeface="HardingText-Regular"/>
              </a:rPr>
              <a:t>respond with a button press to indicate whether the image and phrase</a:t>
            </a:r>
          </a:p>
          <a:p>
            <a:pPr algn="l"/>
            <a:r>
              <a:rPr lang="en-US" sz="1800" b="0" i="0" u="none" strike="noStrike" baseline="0" dirty="0">
                <a:latin typeface="HardingText-Regular"/>
              </a:rPr>
              <a:t>were ‘congruent’ (for example, an image of a beach and the spoken</a:t>
            </a:r>
          </a:p>
          <a:p>
            <a:pPr algn="l"/>
            <a:r>
              <a:rPr lang="en-US" sz="1800" b="0" i="0" u="none" strike="noStrike" baseline="0" dirty="0">
                <a:latin typeface="HardingText-Regular"/>
              </a:rPr>
              <a:t>word ‘beach’) or ‘incongruent’.</a:t>
            </a:r>
          </a:p>
          <a:p>
            <a:pPr algn="l"/>
            <a:endParaRPr lang="en-US" sz="1800" b="0" i="0" u="none" strike="noStrike" baseline="0" dirty="0">
              <a:latin typeface="HardingText-Regular"/>
            </a:endParaRPr>
          </a:p>
          <a:p>
            <a:pPr algn="l"/>
            <a:r>
              <a:rPr lang="en-US" sz="1800" b="0" i="0" u="none" strike="noStrike" baseline="0" dirty="0">
                <a:latin typeface="HardingText-Regular"/>
              </a:rPr>
              <a:t>Task fMRI scans used the same sequence used</a:t>
            </a:r>
          </a:p>
          <a:p>
            <a:pPr algn="l"/>
            <a:r>
              <a:rPr lang="en-US" sz="1800" b="0" i="0" u="none" strike="noStrike" baseline="0" dirty="0">
                <a:latin typeface="HardingText-Regular"/>
              </a:rPr>
              <a:t>in resting fMRI, included 48 trials (24 congruent, 24 incongruent) and</a:t>
            </a:r>
          </a:p>
          <a:p>
            <a:pPr algn="l"/>
            <a:r>
              <a:rPr lang="en-US" sz="1800" b="0" i="0" u="none" strike="noStrike" baseline="0" dirty="0">
                <a:latin typeface="HardingText-Regular"/>
              </a:rPr>
              <a:t>lasted a total of 410 s.</a:t>
            </a:r>
            <a:endParaRPr lang="en-US" dirty="0"/>
          </a:p>
        </p:txBody>
      </p:sp>
      <p:sp>
        <p:nvSpPr>
          <p:cNvPr id="4" name="Slide Number Placeholder 3"/>
          <p:cNvSpPr>
            <a:spLocks noGrp="1"/>
          </p:cNvSpPr>
          <p:nvPr>
            <p:ph type="sldNum" sz="quarter" idx="5"/>
          </p:nvPr>
        </p:nvSpPr>
        <p:spPr/>
        <p:txBody>
          <a:bodyPr/>
          <a:lstStyle/>
          <a:p>
            <a:fld id="{D76D2508-6CFC-49DF-B37C-195BC9890402}" type="slidenum">
              <a:rPr lang="en-US" smtClean="0"/>
              <a:t>10</a:t>
            </a:fld>
            <a:endParaRPr lang="en-US"/>
          </a:p>
        </p:txBody>
      </p:sp>
    </p:spTree>
    <p:extLst>
      <p:ext uri="{BB962C8B-B14F-4D97-AF65-F5344CB8AC3E}">
        <p14:creationId xmlns:p14="http://schemas.microsoft.com/office/powerpoint/2010/main" val="40989090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sz="1800" b="0" i="0" u="none" strike="noStrike" baseline="0" dirty="0">
                <a:latin typeface="HardingText-Regular"/>
              </a:rPr>
              <a:t>Question 30 is silly. This is the nature of experience.</a:t>
            </a:r>
          </a:p>
          <a:p>
            <a:pPr algn="l"/>
            <a:endParaRPr lang="en-US" sz="1800" b="0" i="0" u="none" strike="noStrike" baseline="0" dirty="0">
              <a:latin typeface="HardingText-Regular"/>
            </a:endParaRPr>
          </a:p>
          <a:p>
            <a:pPr algn="l"/>
            <a:r>
              <a:rPr lang="en-US" sz="1800" b="0" i="0" u="none" strike="noStrike" baseline="0" dirty="0">
                <a:latin typeface="HardingText-Regular"/>
              </a:rPr>
              <a:t>If there was a common lexicon, many things could be effable</a:t>
            </a:r>
          </a:p>
          <a:p>
            <a:pPr algn="l"/>
            <a:endParaRPr lang="en-US" sz="1800" b="0" i="0" u="none" strike="noStrike" baseline="0" dirty="0">
              <a:latin typeface="HardingText-Regular"/>
            </a:endParaRPr>
          </a:p>
          <a:p>
            <a:pPr algn="l"/>
            <a:r>
              <a:rPr lang="en-US" sz="1800" b="0" i="0" u="none" strike="noStrike" baseline="0" dirty="0">
                <a:latin typeface="HardingText-Regular"/>
              </a:rPr>
              <a:t>Ecstatic experiences are impossible to capture in words, but they can be outlined to a degree that someone who has had similar experience can then reference their own experience more fully.</a:t>
            </a:r>
            <a:endParaRPr lang="en-US" dirty="0"/>
          </a:p>
        </p:txBody>
      </p:sp>
      <p:sp>
        <p:nvSpPr>
          <p:cNvPr id="4" name="Slide Number Placeholder 3"/>
          <p:cNvSpPr>
            <a:spLocks noGrp="1"/>
          </p:cNvSpPr>
          <p:nvPr>
            <p:ph type="sldNum" sz="quarter" idx="5"/>
          </p:nvPr>
        </p:nvSpPr>
        <p:spPr/>
        <p:txBody>
          <a:bodyPr/>
          <a:lstStyle/>
          <a:p>
            <a:fld id="{D76D2508-6CFC-49DF-B37C-195BC9890402}" type="slidenum">
              <a:rPr lang="en-US" smtClean="0"/>
              <a:t>11</a:t>
            </a:fld>
            <a:endParaRPr lang="en-US"/>
          </a:p>
        </p:txBody>
      </p:sp>
    </p:spTree>
    <p:extLst>
      <p:ext uri="{BB962C8B-B14F-4D97-AF65-F5344CB8AC3E}">
        <p14:creationId xmlns:p14="http://schemas.microsoft.com/office/powerpoint/2010/main" val="8131719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sz="1800" b="0" i="0" u="none" strike="noStrike" baseline="0" dirty="0">
                <a:latin typeface="HardingText-Regular"/>
              </a:rPr>
              <a:t>of the four MEQ30 dimensions (mystical, positive mood, transcendence of time</a:t>
            </a:r>
          </a:p>
          <a:p>
            <a:pPr algn="l"/>
            <a:r>
              <a:rPr lang="en-US" sz="1800" b="0" i="0" u="none" strike="noStrike" baseline="0" dirty="0">
                <a:latin typeface="HardingText-Regular"/>
              </a:rPr>
              <a:t>and space, and ineffability), the one most strongly correlating with</a:t>
            </a:r>
          </a:p>
          <a:p>
            <a:pPr algn="l"/>
            <a:r>
              <a:rPr lang="en-US" sz="1800" b="0" i="0" u="none" strike="noStrike" baseline="0" dirty="0">
                <a:latin typeface="HardingText-Regular"/>
              </a:rPr>
              <a:t>brain change was transcendence (for example, ‘loss of your usual sense</a:t>
            </a:r>
          </a:p>
          <a:p>
            <a:pPr algn="l"/>
            <a:r>
              <a:rPr lang="en-US" sz="1800" b="0" i="0" u="none" strike="noStrike" baseline="0" dirty="0">
                <a:latin typeface="HardingText-Regular"/>
              </a:rPr>
              <a:t>of time or space’, </a:t>
            </a:r>
            <a:r>
              <a:rPr lang="en-US" sz="1800" b="0" i="1" u="none" strike="noStrike" baseline="0" dirty="0">
                <a:latin typeface="HardingText-RegularItalic"/>
              </a:rPr>
              <a:t>r</a:t>
            </a:r>
            <a:r>
              <a:rPr lang="en-US" sz="1800" b="0" i="0" u="none" strike="noStrike" baseline="0" dirty="0">
                <a:latin typeface="HardingText-Regular"/>
              </a:rPr>
              <a:t>2 = 0.86, Supplementary Fig. 5), however, all dimensions</a:t>
            </a:r>
          </a:p>
          <a:p>
            <a:pPr algn="l"/>
            <a:r>
              <a:rPr lang="en-US" sz="1800" b="0" i="0" u="none" strike="noStrike" baseline="0" dirty="0">
                <a:latin typeface="HardingText-Regular"/>
              </a:rPr>
              <a:t>were highly correlated (</a:t>
            </a:r>
            <a:r>
              <a:rPr lang="en-US" sz="1800" b="0" i="1" u="none" strike="noStrike" baseline="0" dirty="0">
                <a:latin typeface="HardingText-RegularItalic"/>
              </a:rPr>
              <a:t>r </a:t>
            </a:r>
            <a:r>
              <a:rPr lang="en-US" sz="1800" b="0" i="0" u="none" strike="noStrike" baseline="0" dirty="0">
                <a:latin typeface="HardingText-Regular"/>
              </a:rPr>
              <a:t>&gt; 0.8). Repeated</a:t>
            </a:r>
            <a:endParaRPr lang="en-US" dirty="0"/>
          </a:p>
        </p:txBody>
      </p:sp>
      <p:sp>
        <p:nvSpPr>
          <p:cNvPr id="4" name="Slide Number Placeholder 3"/>
          <p:cNvSpPr>
            <a:spLocks noGrp="1"/>
          </p:cNvSpPr>
          <p:nvPr>
            <p:ph type="sldNum" sz="quarter" idx="5"/>
          </p:nvPr>
        </p:nvSpPr>
        <p:spPr/>
        <p:txBody>
          <a:bodyPr/>
          <a:lstStyle/>
          <a:p>
            <a:fld id="{D76D2508-6CFC-49DF-B37C-195BC9890402}" type="slidenum">
              <a:rPr lang="en-US" smtClean="0"/>
              <a:t>12</a:t>
            </a:fld>
            <a:endParaRPr lang="en-US"/>
          </a:p>
        </p:txBody>
      </p:sp>
    </p:spTree>
    <p:extLst>
      <p:ext uri="{BB962C8B-B14F-4D97-AF65-F5344CB8AC3E}">
        <p14:creationId xmlns:p14="http://schemas.microsoft.com/office/powerpoint/2010/main" val="52957492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sz="1800" b="0" i="0" u="none" strike="noStrike" baseline="0" dirty="0">
                <a:latin typeface="HardingText-Regular"/>
              </a:rPr>
              <a:t>This was a suprathreshold auditory–visual matching task in which</a:t>
            </a:r>
          </a:p>
          <a:p>
            <a:pPr algn="l"/>
            <a:r>
              <a:rPr lang="en-US" sz="1800" b="0" i="0" u="none" strike="noStrike" baseline="0" dirty="0">
                <a:latin typeface="HardingText-Regular"/>
              </a:rPr>
              <a:t>participants were presented with a naturalistic visual image (duration</a:t>
            </a:r>
          </a:p>
          <a:p>
            <a:pPr algn="l"/>
            <a:r>
              <a:rPr lang="en-US" sz="1800" b="0" i="0" u="none" strike="noStrike" baseline="0" dirty="0">
                <a:latin typeface="HardingText-Regular"/>
              </a:rPr>
              <a:t>500 </a:t>
            </a:r>
            <a:r>
              <a:rPr lang="en-US" sz="1800" b="0" i="0" u="none" strike="noStrike" baseline="0" dirty="0" err="1">
                <a:latin typeface="HardingText-Regular"/>
              </a:rPr>
              <a:t>ms</a:t>
            </a:r>
            <a:r>
              <a:rPr lang="en-US" sz="1800" b="0" i="0" u="none" strike="noStrike" baseline="0" dirty="0">
                <a:latin typeface="HardingText-Regular"/>
              </a:rPr>
              <a:t>) and coincident spoken English phrase, and were asked to</a:t>
            </a:r>
          </a:p>
          <a:p>
            <a:pPr algn="l"/>
            <a:r>
              <a:rPr lang="en-US" sz="1800" b="0" i="0" u="none" strike="noStrike" baseline="0" dirty="0">
                <a:latin typeface="HardingText-Regular"/>
              </a:rPr>
              <a:t>respond with a button press to indicate whether the image and phrase</a:t>
            </a:r>
          </a:p>
          <a:p>
            <a:pPr algn="l"/>
            <a:r>
              <a:rPr lang="en-US" sz="1800" b="0" i="0" u="none" strike="noStrike" baseline="0" dirty="0">
                <a:latin typeface="HardingText-Regular"/>
              </a:rPr>
              <a:t>were ‘congruent’ (for example, an image of a beach and the spoken</a:t>
            </a:r>
          </a:p>
          <a:p>
            <a:pPr algn="l"/>
            <a:r>
              <a:rPr lang="en-US" sz="1800" b="0" i="0" u="none" strike="noStrike" baseline="0" dirty="0">
                <a:latin typeface="HardingText-Regular"/>
              </a:rPr>
              <a:t>word ‘beach’) or ‘incongruent’.</a:t>
            </a:r>
          </a:p>
          <a:p>
            <a:pPr algn="l"/>
            <a:endParaRPr lang="en-US" sz="1800" b="0" i="0" u="none" strike="noStrike" baseline="0" dirty="0">
              <a:latin typeface="HardingText-Regular"/>
            </a:endParaRPr>
          </a:p>
          <a:p>
            <a:pPr algn="l"/>
            <a:r>
              <a:rPr lang="en-US" sz="1800" b="0" i="0" u="none" strike="noStrike" baseline="0" dirty="0">
                <a:latin typeface="HardingText-Regular"/>
              </a:rPr>
              <a:t>Task fMRI scans used the same sequence used</a:t>
            </a:r>
          </a:p>
          <a:p>
            <a:pPr algn="l"/>
            <a:r>
              <a:rPr lang="en-US" sz="1800" b="0" i="0" u="none" strike="noStrike" baseline="0" dirty="0">
                <a:latin typeface="HardingText-Regular"/>
              </a:rPr>
              <a:t>in resting fMRI, included 48 trials (24 congruent, 24 incongruent) and</a:t>
            </a:r>
          </a:p>
          <a:p>
            <a:pPr algn="l"/>
            <a:r>
              <a:rPr lang="en-US" sz="1800" b="0" i="0" u="none" strike="noStrike" baseline="0" dirty="0">
                <a:latin typeface="HardingText-Regular"/>
              </a:rPr>
              <a:t>lasted a total of 410 s.</a:t>
            </a:r>
            <a:endParaRPr lang="en-US" dirty="0"/>
          </a:p>
        </p:txBody>
      </p:sp>
      <p:sp>
        <p:nvSpPr>
          <p:cNvPr id="4" name="Slide Number Placeholder 3"/>
          <p:cNvSpPr>
            <a:spLocks noGrp="1"/>
          </p:cNvSpPr>
          <p:nvPr>
            <p:ph type="sldNum" sz="quarter" idx="5"/>
          </p:nvPr>
        </p:nvSpPr>
        <p:spPr/>
        <p:txBody>
          <a:bodyPr/>
          <a:lstStyle/>
          <a:p>
            <a:fld id="{D76D2508-6CFC-49DF-B37C-195BC9890402}" type="slidenum">
              <a:rPr lang="en-US" smtClean="0"/>
              <a:t>13</a:t>
            </a:fld>
            <a:endParaRPr lang="en-US"/>
          </a:p>
        </p:txBody>
      </p:sp>
    </p:spTree>
    <p:extLst>
      <p:ext uri="{BB962C8B-B14F-4D97-AF65-F5344CB8AC3E}">
        <p14:creationId xmlns:p14="http://schemas.microsoft.com/office/powerpoint/2010/main" val="426369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dirty="0"/>
              <a:t>The higher score on dimension 1 associated with psilocybin, corresponded to reduced segregation between the DMN and</a:t>
            </a:r>
          </a:p>
          <a:p>
            <a:pPr algn="l"/>
            <a:r>
              <a:rPr lang="en-US" dirty="0"/>
              <a:t>other networks </a:t>
            </a:r>
            <a:r>
              <a:rPr lang="en-US" sz="1800" b="0" i="0" u="none" strike="noStrike" baseline="0" dirty="0">
                <a:latin typeface="HardingText-Regular"/>
              </a:rPr>
              <a:t>that are typically anticorrelated with it.</a:t>
            </a:r>
            <a:endParaRPr lang="en-US" dirty="0"/>
          </a:p>
        </p:txBody>
      </p:sp>
      <p:sp>
        <p:nvSpPr>
          <p:cNvPr id="4" name="Slide Number Placeholder 3"/>
          <p:cNvSpPr>
            <a:spLocks noGrp="1"/>
          </p:cNvSpPr>
          <p:nvPr>
            <p:ph type="sldNum" sz="quarter" idx="5"/>
          </p:nvPr>
        </p:nvSpPr>
        <p:spPr/>
        <p:txBody>
          <a:bodyPr/>
          <a:lstStyle/>
          <a:p>
            <a:fld id="{D76D2508-6CFC-49DF-B37C-195BC9890402}" type="slidenum">
              <a:rPr lang="en-US" smtClean="0"/>
              <a:t>14</a:t>
            </a:fld>
            <a:endParaRPr lang="en-US"/>
          </a:p>
        </p:txBody>
      </p:sp>
    </p:spTree>
    <p:extLst>
      <p:ext uri="{BB962C8B-B14F-4D97-AF65-F5344CB8AC3E}">
        <p14:creationId xmlns:p14="http://schemas.microsoft.com/office/powerpoint/2010/main" val="24885000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https://www.nytimes.com/2024/03/21/health/psychedelics-roland-griffiths-johns-hopkins.html</a:t>
            </a:r>
          </a:p>
        </p:txBody>
      </p:sp>
      <p:sp>
        <p:nvSpPr>
          <p:cNvPr id="4" name="Slide Number Placeholder 3"/>
          <p:cNvSpPr>
            <a:spLocks noGrp="1"/>
          </p:cNvSpPr>
          <p:nvPr>
            <p:ph type="sldNum" sz="quarter" idx="5"/>
          </p:nvPr>
        </p:nvSpPr>
        <p:spPr/>
        <p:txBody>
          <a:bodyPr/>
          <a:lstStyle/>
          <a:p>
            <a:fld id="{D76D2508-6CFC-49DF-B37C-195BC9890402}" type="slidenum">
              <a:rPr lang="en-US" smtClean="0"/>
              <a:t>15</a:t>
            </a:fld>
            <a:endParaRPr lang="en-US"/>
          </a:p>
        </p:txBody>
      </p:sp>
    </p:spTree>
    <p:extLst>
      <p:ext uri="{BB962C8B-B14F-4D97-AF65-F5344CB8AC3E}">
        <p14:creationId xmlns:p14="http://schemas.microsoft.com/office/powerpoint/2010/main" val="9253080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https://www.nytimes.com/2024/03/21/health/psychedelics-roland-griffiths-johns-hopkins.html</a:t>
            </a:r>
          </a:p>
        </p:txBody>
      </p:sp>
      <p:sp>
        <p:nvSpPr>
          <p:cNvPr id="4" name="Slide Number Placeholder 3"/>
          <p:cNvSpPr>
            <a:spLocks noGrp="1"/>
          </p:cNvSpPr>
          <p:nvPr>
            <p:ph type="sldNum" sz="quarter" idx="5"/>
          </p:nvPr>
        </p:nvSpPr>
        <p:spPr/>
        <p:txBody>
          <a:bodyPr/>
          <a:lstStyle/>
          <a:p>
            <a:fld id="{D76D2508-6CFC-49DF-B37C-195BC9890402}" type="slidenum">
              <a:rPr lang="en-US" smtClean="0"/>
              <a:t>16</a:t>
            </a:fld>
            <a:endParaRPr lang="en-US"/>
          </a:p>
        </p:txBody>
      </p:sp>
    </p:spTree>
    <p:extLst>
      <p:ext uri="{BB962C8B-B14F-4D97-AF65-F5344CB8AC3E}">
        <p14:creationId xmlns:p14="http://schemas.microsoft.com/office/powerpoint/2010/main" val="184401746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76D2508-6CFC-49DF-B37C-195BC9890402}" type="slidenum">
              <a:rPr lang="en-US" smtClean="0"/>
              <a:t>17</a:t>
            </a:fld>
            <a:endParaRPr lang="en-US"/>
          </a:p>
        </p:txBody>
      </p:sp>
    </p:spTree>
    <p:extLst>
      <p:ext uri="{BB962C8B-B14F-4D97-AF65-F5344CB8AC3E}">
        <p14:creationId xmlns:p14="http://schemas.microsoft.com/office/powerpoint/2010/main" val="30936334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sz="1800" b="0" i="0" u="none" strike="noStrike" baseline="0" dirty="0">
                <a:latin typeface="HardingText-Regular"/>
              </a:rPr>
              <a:t>The authors cite a paper on MS patients who have increased depressive symptoms correlated with increased FC between hippocampus and DMN</a:t>
            </a:r>
            <a:endParaRPr lang="en-US" dirty="0"/>
          </a:p>
        </p:txBody>
      </p:sp>
      <p:sp>
        <p:nvSpPr>
          <p:cNvPr id="4" name="Slide Number Placeholder 3"/>
          <p:cNvSpPr>
            <a:spLocks noGrp="1"/>
          </p:cNvSpPr>
          <p:nvPr>
            <p:ph type="sldNum" sz="quarter" idx="5"/>
          </p:nvPr>
        </p:nvSpPr>
        <p:spPr/>
        <p:txBody>
          <a:bodyPr/>
          <a:lstStyle/>
          <a:p>
            <a:fld id="{D76D2508-6CFC-49DF-B37C-195BC9890402}" type="slidenum">
              <a:rPr lang="en-US" smtClean="0"/>
              <a:t>18</a:t>
            </a:fld>
            <a:endParaRPr lang="en-US"/>
          </a:p>
        </p:txBody>
      </p:sp>
    </p:spTree>
    <p:extLst>
      <p:ext uri="{BB962C8B-B14F-4D97-AF65-F5344CB8AC3E}">
        <p14:creationId xmlns:p14="http://schemas.microsoft.com/office/powerpoint/2010/main" val="18124873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dirty="0"/>
              <a:t>The higher score on dimension 1 associated with psilocybin, corresponded to reduced segregation between the DMN and</a:t>
            </a:r>
          </a:p>
          <a:p>
            <a:pPr algn="l"/>
            <a:r>
              <a:rPr lang="en-US" dirty="0"/>
              <a:t>other networks </a:t>
            </a:r>
            <a:r>
              <a:rPr lang="en-US" sz="1800" b="0" i="0" u="none" strike="noStrike" baseline="0" dirty="0">
                <a:latin typeface="HardingText-Regular"/>
              </a:rPr>
              <a:t>that are typically anticorrelated with it.</a:t>
            </a:r>
            <a:endParaRPr lang="en-US" dirty="0"/>
          </a:p>
        </p:txBody>
      </p:sp>
      <p:sp>
        <p:nvSpPr>
          <p:cNvPr id="4" name="Slide Number Placeholder 3"/>
          <p:cNvSpPr>
            <a:spLocks noGrp="1"/>
          </p:cNvSpPr>
          <p:nvPr>
            <p:ph type="sldNum" sz="quarter" idx="5"/>
          </p:nvPr>
        </p:nvSpPr>
        <p:spPr/>
        <p:txBody>
          <a:bodyPr/>
          <a:lstStyle/>
          <a:p>
            <a:fld id="{D76D2508-6CFC-49DF-B37C-195BC9890402}" type="slidenum">
              <a:rPr lang="en-US" smtClean="0"/>
              <a:t>19</a:t>
            </a:fld>
            <a:endParaRPr lang="en-US"/>
          </a:p>
        </p:txBody>
      </p:sp>
    </p:spTree>
    <p:extLst>
      <p:ext uri="{BB962C8B-B14F-4D97-AF65-F5344CB8AC3E}">
        <p14:creationId xmlns:p14="http://schemas.microsoft.com/office/powerpoint/2010/main" val="19716747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dirty="0"/>
              <a:t>The higher score on dimension 1 associated with psilocybin, corresponded to reduced segregation between the DMN and</a:t>
            </a:r>
          </a:p>
          <a:p>
            <a:pPr algn="l"/>
            <a:r>
              <a:rPr lang="en-US" dirty="0"/>
              <a:t>other networks </a:t>
            </a:r>
            <a:r>
              <a:rPr lang="en-US" sz="1800" b="0" i="0" u="none" strike="noStrike" baseline="0" dirty="0">
                <a:latin typeface="HardingText-Regular"/>
              </a:rPr>
              <a:t>that are typically anticorrelated with it.</a:t>
            </a:r>
            <a:endParaRPr lang="en-US" dirty="0"/>
          </a:p>
        </p:txBody>
      </p:sp>
      <p:sp>
        <p:nvSpPr>
          <p:cNvPr id="4" name="Slide Number Placeholder 3"/>
          <p:cNvSpPr>
            <a:spLocks noGrp="1"/>
          </p:cNvSpPr>
          <p:nvPr>
            <p:ph type="sldNum" sz="quarter" idx="5"/>
          </p:nvPr>
        </p:nvSpPr>
        <p:spPr/>
        <p:txBody>
          <a:bodyPr/>
          <a:lstStyle/>
          <a:p>
            <a:fld id="{D76D2508-6CFC-49DF-B37C-195BC9890402}" type="slidenum">
              <a:rPr lang="en-US" smtClean="0"/>
              <a:t>20</a:t>
            </a:fld>
            <a:endParaRPr lang="en-US"/>
          </a:p>
        </p:txBody>
      </p:sp>
    </p:spTree>
    <p:extLst>
      <p:ext uri="{BB962C8B-B14F-4D97-AF65-F5344CB8AC3E}">
        <p14:creationId xmlns:p14="http://schemas.microsoft.com/office/powerpoint/2010/main" val="139756524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sz="1800" b="0" i="0" u="none" strike="noStrike" baseline="0" dirty="0">
                <a:latin typeface="HardingText-Regular"/>
              </a:rPr>
              <a:t>This was a suprathreshold auditory–visual matching task in which</a:t>
            </a:r>
          </a:p>
          <a:p>
            <a:pPr algn="l"/>
            <a:r>
              <a:rPr lang="en-US" sz="1800" b="0" i="0" u="none" strike="noStrike" baseline="0" dirty="0">
                <a:latin typeface="HardingText-Regular"/>
              </a:rPr>
              <a:t>participants were presented with a naturalistic visual image (duration</a:t>
            </a:r>
          </a:p>
          <a:p>
            <a:pPr algn="l"/>
            <a:r>
              <a:rPr lang="en-US" sz="1800" b="0" i="0" u="none" strike="noStrike" baseline="0" dirty="0">
                <a:latin typeface="HardingText-Regular"/>
              </a:rPr>
              <a:t>500 </a:t>
            </a:r>
            <a:r>
              <a:rPr lang="en-US" sz="1800" b="0" i="0" u="none" strike="noStrike" baseline="0" dirty="0" err="1">
                <a:latin typeface="HardingText-Regular"/>
              </a:rPr>
              <a:t>ms</a:t>
            </a:r>
            <a:r>
              <a:rPr lang="en-US" sz="1800" b="0" i="0" u="none" strike="noStrike" baseline="0" dirty="0">
                <a:latin typeface="HardingText-Regular"/>
              </a:rPr>
              <a:t>) and coincident spoken English phrase, and were asked to</a:t>
            </a:r>
          </a:p>
          <a:p>
            <a:pPr algn="l"/>
            <a:r>
              <a:rPr lang="en-US" sz="1800" b="0" i="0" u="none" strike="noStrike" baseline="0" dirty="0">
                <a:latin typeface="HardingText-Regular"/>
              </a:rPr>
              <a:t>respond with a button press to indicate whether the image and phrase</a:t>
            </a:r>
          </a:p>
          <a:p>
            <a:pPr algn="l"/>
            <a:r>
              <a:rPr lang="en-US" sz="1800" b="0" i="0" u="none" strike="noStrike" baseline="0" dirty="0">
                <a:latin typeface="HardingText-Regular"/>
              </a:rPr>
              <a:t>were ‘congruent’ (for example, an image of a beach and the spoken</a:t>
            </a:r>
          </a:p>
          <a:p>
            <a:pPr algn="l"/>
            <a:r>
              <a:rPr lang="en-US" sz="1800" b="0" i="0" u="none" strike="noStrike" baseline="0" dirty="0">
                <a:latin typeface="HardingText-Regular"/>
              </a:rPr>
              <a:t>word ‘beach’) or ‘incongruent’.</a:t>
            </a:r>
          </a:p>
          <a:p>
            <a:pPr algn="l"/>
            <a:endParaRPr lang="en-US" sz="1800" b="0" i="0" u="none" strike="noStrike" baseline="0" dirty="0">
              <a:latin typeface="HardingText-Regular"/>
            </a:endParaRPr>
          </a:p>
          <a:p>
            <a:pPr algn="l"/>
            <a:r>
              <a:rPr lang="en-US" sz="1800" b="0" i="0" u="none" strike="noStrike" baseline="0" dirty="0">
                <a:latin typeface="HardingText-Regular"/>
              </a:rPr>
              <a:t>Task fMRI scans used the same sequence used</a:t>
            </a:r>
          </a:p>
          <a:p>
            <a:pPr algn="l"/>
            <a:r>
              <a:rPr lang="en-US" sz="1800" b="0" i="0" u="none" strike="noStrike" baseline="0" dirty="0">
                <a:latin typeface="HardingText-Regular"/>
              </a:rPr>
              <a:t>in resting fMRI, included 48 trials (24 congruent, 24 incongruent) and</a:t>
            </a:r>
          </a:p>
          <a:p>
            <a:pPr algn="l"/>
            <a:r>
              <a:rPr lang="en-US" sz="1800" b="0" i="0" u="none" strike="noStrike" baseline="0" dirty="0">
                <a:latin typeface="HardingText-Regular"/>
              </a:rPr>
              <a:t>lasted a total of 410 s.</a:t>
            </a:r>
            <a:endParaRPr lang="en-US" dirty="0"/>
          </a:p>
        </p:txBody>
      </p:sp>
      <p:sp>
        <p:nvSpPr>
          <p:cNvPr id="4" name="Slide Number Placeholder 3"/>
          <p:cNvSpPr>
            <a:spLocks noGrp="1"/>
          </p:cNvSpPr>
          <p:nvPr>
            <p:ph type="sldNum" sz="quarter" idx="5"/>
          </p:nvPr>
        </p:nvSpPr>
        <p:spPr/>
        <p:txBody>
          <a:bodyPr/>
          <a:lstStyle/>
          <a:p>
            <a:fld id="{D76D2508-6CFC-49DF-B37C-195BC9890402}" type="slidenum">
              <a:rPr lang="en-US" smtClean="0"/>
              <a:t>21</a:t>
            </a:fld>
            <a:endParaRPr lang="en-US"/>
          </a:p>
        </p:txBody>
      </p:sp>
    </p:spTree>
    <p:extLst>
      <p:ext uri="{BB962C8B-B14F-4D97-AF65-F5344CB8AC3E}">
        <p14:creationId xmlns:p14="http://schemas.microsoft.com/office/powerpoint/2010/main" val="33874713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sz="1800" b="0" i="0" u="none" strike="noStrike" baseline="0" dirty="0">
                <a:latin typeface="HardingText-Regular"/>
              </a:rPr>
              <a:t>This was a suprathreshold auditory–visual matching task in which</a:t>
            </a:r>
          </a:p>
          <a:p>
            <a:pPr algn="l"/>
            <a:r>
              <a:rPr lang="en-US" sz="1800" b="0" i="0" u="none" strike="noStrike" baseline="0" dirty="0">
                <a:latin typeface="HardingText-Regular"/>
              </a:rPr>
              <a:t>participants were presented with a naturalistic visual image (duration</a:t>
            </a:r>
          </a:p>
          <a:p>
            <a:pPr algn="l"/>
            <a:r>
              <a:rPr lang="en-US" sz="1800" b="0" i="0" u="none" strike="noStrike" baseline="0" dirty="0">
                <a:latin typeface="HardingText-Regular"/>
              </a:rPr>
              <a:t>500 </a:t>
            </a:r>
            <a:r>
              <a:rPr lang="en-US" sz="1800" b="0" i="0" u="none" strike="noStrike" baseline="0" dirty="0" err="1">
                <a:latin typeface="HardingText-Regular"/>
              </a:rPr>
              <a:t>ms</a:t>
            </a:r>
            <a:r>
              <a:rPr lang="en-US" sz="1800" b="0" i="0" u="none" strike="noStrike" baseline="0" dirty="0">
                <a:latin typeface="HardingText-Regular"/>
              </a:rPr>
              <a:t>) and coincident spoken English phrase, and were asked to</a:t>
            </a:r>
          </a:p>
          <a:p>
            <a:pPr algn="l"/>
            <a:r>
              <a:rPr lang="en-US" sz="1800" b="0" i="0" u="none" strike="noStrike" baseline="0" dirty="0">
                <a:latin typeface="HardingText-Regular"/>
              </a:rPr>
              <a:t>respond with a button press to indicate whether the image and phrase</a:t>
            </a:r>
          </a:p>
          <a:p>
            <a:pPr algn="l"/>
            <a:r>
              <a:rPr lang="en-US" sz="1800" b="0" i="0" u="none" strike="noStrike" baseline="0" dirty="0">
                <a:latin typeface="HardingText-Regular"/>
              </a:rPr>
              <a:t>were ‘congruent’ (for example, an image of a beach and the spoken</a:t>
            </a:r>
          </a:p>
          <a:p>
            <a:pPr algn="l"/>
            <a:r>
              <a:rPr lang="en-US" sz="1800" b="0" i="0" u="none" strike="noStrike" baseline="0" dirty="0">
                <a:latin typeface="HardingText-Regular"/>
              </a:rPr>
              <a:t>word ‘beach’) or ‘incongruent’.</a:t>
            </a:r>
          </a:p>
          <a:p>
            <a:pPr algn="l"/>
            <a:endParaRPr lang="en-US" sz="1800" b="0" i="0" u="none" strike="noStrike" baseline="0" dirty="0">
              <a:latin typeface="HardingText-Regular"/>
            </a:endParaRPr>
          </a:p>
          <a:p>
            <a:pPr algn="l"/>
            <a:r>
              <a:rPr lang="en-US" sz="1800" b="0" i="0" u="none" strike="noStrike" baseline="0" dirty="0">
                <a:latin typeface="HardingText-Regular"/>
              </a:rPr>
              <a:t>Task fMRI scans used the same sequence used</a:t>
            </a:r>
          </a:p>
          <a:p>
            <a:pPr algn="l"/>
            <a:r>
              <a:rPr lang="en-US" sz="1800" b="0" i="0" u="none" strike="noStrike" baseline="0" dirty="0">
                <a:latin typeface="HardingText-Regular"/>
              </a:rPr>
              <a:t>in resting fMRI, included 48 trials (24 congruent, 24 incongruent) and</a:t>
            </a:r>
          </a:p>
          <a:p>
            <a:pPr algn="l"/>
            <a:r>
              <a:rPr lang="en-US" sz="1800" b="0" i="0" u="none" strike="noStrike" baseline="0" dirty="0">
                <a:latin typeface="HardingText-Regular"/>
              </a:rPr>
              <a:t>lasted a total of 410 s.</a:t>
            </a:r>
            <a:endParaRPr lang="en-US" dirty="0"/>
          </a:p>
        </p:txBody>
      </p:sp>
      <p:sp>
        <p:nvSpPr>
          <p:cNvPr id="4" name="Slide Number Placeholder 3"/>
          <p:cNvSpPr>
            <a:spLocks noGrp="1"/>
          </p:cNvSpPr>
          <p:nvPr>
            <p:ph type="sldNum" sz="quarter" idx="5"/>
          </p:nvPr>
        </p:nvSpPr>
        <p:spPr/>
        <p:txBody>
          <a:bodyPr/>
          <a:lstStyle/>
          <a:p>
            <a:fld id="{D76D2508-6CFC-49DF-B37C-195BC9890402}" type="slidenum">
              <a:rPr lang="en-US" smtClean="0"/>
              <a:t>22</a:t>
            </a:fld>
            <a:endParaRPr lang="en-US"/>
          </a:p>
        </p:txBody>
      </p:sp>
    </p:spTree>
    <p:extLst>
      <p:ext uri="{BB962C8B-B14F-4D97-AF65-F5344CB8AC3E}">
        <p14:creationId xmlns:p14="http://schemas.microsoft.com/office/powerpoint/2010/main" val="334228963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Are these days or weeks?</a:t>
            </a:r>
            <a:endParaRPr lang="en-US" dirty="0"/>
          </a:p>
          <a:p>
            <a:endParaRPr lang="en-US" dirty="0"/>
          </a:p>
        </p:txBody>
      </p:sp>
      <p:sp>
        <p:nvSpPr>
          <p:cNvPr id="4" name="Slide Number Placeholder 3"/>
          <p:cNvSpPr>
            <a:spLocks noGrp="1"/>
          </p:cNvSpPr>
          <p:nvPr>
            <p:ph type="sldNum" sz="quarter" idx="5"/>
          </p:nvPr>
        </p:nvSpPr>
        <p:spPr/>
        <p:txBody>
          <a:bodyPr/>
          <a:lstStyle/>
          <a:p>
            <a:fld id="{D76D2508-6CFC-49DF-B37C-195BC9890402}" type="slidenum">
              <a:rPr lang="en-US" smtClean="0"/>
              <a:t>23</a:t>
            </a:fld>
            <a:endParaRPr lang="en-US"/>
          </a:p>
        </p:txBody>
      </p:sp>
    </p:spTree>
    <p:extLst>
      <p:ext uri="{BB962C8B-B14F-4D97-AF65-F5344CB8AC3E}">
        <p14:creationId xmlns:p14="http://schemas.microsoft.com/office/powerpoint/2010/main" val="29080637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Are these days or weeks?</a:t>
            </a:r>
            <a:endParaRPr lang="en-US" dirty="0"/>
          </a:p>
          <a:p>
            <a:endParaRPr lang="en-US" dirty="0"/>
          </a:p>
        </p:txBody>
      </p:sp>
      <p:sp>
        <p:nvSpPr>
          <p:cNvPr id="4" name="Slide Number Placeholder 3"/>
          <p:cNvSpPr>
            <a:spLocks noGrp="1"/>
          </p:cNvSpPr>
          <p:nvPr>
            <p:ph type="sldNum" sz="quarter" idx="5"/>
          </p:nvPr>
        </p:nvSpPr>
        <p:spPr/>
        <p:txBody>
          <a:bodyPr/>
          <a:lstStyle/>
          <a:p>
            <a:fld id="{D76D2508-6CFC-49DF-B37C-195BC9890402}" type="slidenum">
              <a:rPr lang="en-US" smtClean="0"/>
              <a:t>24</a:t>
            </a:fld>
            <a:endParaRPr lang="en-US"/>
          </a:p>
        </p:txBody>
      </p:sp>
    </p:spTree>
    <p:extLst>
      <p:ext uri="{BB962C8B-B14F-4D97-AF65-F5344CB8AC3E}">
        <p14:creationId xmlns:p14="http://schemas.microsoft.com/office/powerpoint/2010/main" val="33222337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D782A6-13C4-C9DA-C9EB-5E92C825883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6BCDDC6-79E5-CAD1-27F5-610BA9376C6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3E8214F-8C31-9CF6-FB0A-11A5786F8273}"/>
              </a:ext>
            </a:extLst>
          </p:cNvPr>
          <p:cNvSpPr>
            <a:spLocks noGrp="1"/>
          </p:cNvSpPr>
          <p:nvPr>
            <p:ph type="dt" sz="half" idx="10"/>
          </p:nvPr>
        </p:nvSpPr>
        <p:spPr/>
        <p:txBody>
          <a:bodyPr/>
          <a:lstStyle/>
          <a:p>
            <a:fld id="{112F9B79-2CDC-408C-82D7-832DFA00A65D}" type="datetimeFigureOut">
              <a:rPr lang="en-US" smtClean="0"/>
              <a:t>9/11/2024</a:t>
            </a:fld>
            <a:endParaRPr lang="en-US"/>
          </a:p>
        </p:txBody>
      </p:sp>
      <p:sp>
        <p:nvSpPr>
          <p:cNvPr id="5" name="Footer Placeholder 4">
            <a:extLst>
              <a:ext uri="{FF2B5EF4-FFF2-40B4-BE49-F238E27FC236}">
                <a16:creationId xmlns:a16="http://schemas.microsoft.com/office/drawing/2014/main" id="{EB2FE519-A0C0-5BFE-E61C-8C185E620B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5A94594-7C9C-55AF-CB9E-3EBF41B49061}"/>
              </a:ext>
            </a:extLst>
          </p:cNvPr>
          <p:cNvSpPr>
            <a:spLocks noGrp="1"/>
          </p:cNvSpPr>
          <p:nvPr>
            <p:ph type="sldNum" sz="quarter" idx="12"/>
          </p:nvPr>
        </p:nvSpPr>
        <p:spPr/>
        <p:txBody>
          <a:bodyPr/>
          <a:lstStyle/>
          <a:p>
            <a:fld id="{893800F5-965F-4FAF-84E3-A73E1B9AC437}" type="slidenum">
              <a:rPr lang="en-US" smtClean="0"/>
              <a:t>‹#›</a:t>
            </a:fld>
            <a:endParaRPr lang="en-US"/>
          </a:p>
        </p:txBody>
      </p:sp>
    </p:spTree>
    <p:extLst>
      <p:ext uri="{BB962C8B-B14F-4D97-AF65-F5344CB8AC3E}">
        <p14:creationId xmlns:p14="http://schemas.microsoft.com/office/powerpoint/2010/main" val="35259228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9AD08-D6E3-2862-A1FF-5A68FC978E4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781498-B51C-CFE4-991D-CD90B37459B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766C07-FDB0-3BB0-12B8-EE666F3A99A6}"/>
              </a:ext>
            </a:extLst>
          </p:cNvPr>
          <p:cNvSpPr>
            <a:spLocks noGrp="1"/>
          </p:cNvSpPr>
          <p:nvPr>
            <p:ph type="dt" sz="half" idx="10"/>
          </p:nvPr>
        </p:nvSpPr>
        <p:spPr/>
        <p:txBody>
          <a:bodyPr/>
          <a:lstStyle/>
          <a:p>
            <a:fld id="{112F9B79-2CDC-408C-82D7-832DFA00A65D}" type="datetimeFigureOut">
              <a:rPr lang="en-US" smtClean="0"/>
              <a:t>9/11/2024</a:t>
            </a:fld>
            <a:endParaRPr lang="en-US"/>
          </a:p>
        </p:txBody>
      </p:sp>
      <p:sp>
        <p:nvSpPr>
          <p:cNvPr id="5" name="Footer Placeholder 4">
            <a:extLst>
              <a:ext uri="{FF2B5EF4-FFF2-40B4-BE49-F238E27FC236}">
                <a16:creationId xmlns:a16="http://schemas.microsoft.com/office/drawing/2014/main" id="{31D10B47-B062-6EFA-9ECD-9241B5CB322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7EB125-9A84-105D-96CC-29F5DD14C0E9}"/>
              </a:ext>
            </a:extLst>
          </p:cNvPr>
          <p:cNvSpPr>
            <a:spLocks noGrp="1"/>
          </p:cNvSpPr>
          <p:nvPr>
            <p:ph type="sldNum" sz="quarter" idx="12"/>
          </p:nvPr>
        </p:nvSpPr>
        <p:spPr/>
        <p:txBody>
          <a:bodyPr/>
          <a:lstStyle/>
          <a:p>
            <a:fld id="{893800F5-965F-4FAF-84E3-A73E1B9AC437}" type="slidenum">
              <a:rPr lang="en-US" smtClean="0"/>
              <a:t>‹#›</a:t>
            </a:fld>
            <a:endParaRPr lang="en-US"/>
          </a:p>
        </p:txBody>
      </p:sp>
    </p:spTree>
    <p:extLst>
      <p:ext uri="{BB962C8B-B14F-4D97-AF65-F5344CB8AC3E}">
        <p14:creationId xmlns:p14="http://schemas.microsoft.com/office/powerpoint/2010/main" val="30545404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46FF1-F718-77B6-1DFF-D800B10471A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F32B105-EBD1-F379-6CC7-618840EB3D6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ECA2752-901F-0235-CED5-67E0AF47A648}"/>
              </a:ext>
            </a:extLst>
          </p:cNvPr>
          <p:cNvSpPr>
            <a:spLocks noGrp="1"/>
          </p:cNvSpPr>
          <p:nvPr>
            <p:ph type="dt" sz="half" idx="10"/>
          </p:nvPr>
        </p:nvSpPr>
        <p:spPr/>
        <p:txBody>
          <a:bodyPr/>
          <a:lstStyle/>
          <a:p>
            <a:fld id="{112F9B79-2CDC-408C-82D7-832DFA00A65D}" type="datetimeFigureOut">
              <a:rPr lang="en-US" smtClean="0"/>
              <a:t>9/11/2024</a:t>
            </a:fld>
            <a:endParaRPr lang="en-US"/>
          </a:p>
        </p:txBody>
      </p:sp>
      <p:sp>
        <p:nvSpPr>
          <p:cNvPr id="5" name="Footer Placeholder 4">
            <a:extLst>
              <a:ext uri="{FF2B5EF4-FFF2-40B4-BE49-F238E27FC236}">
                <a16:creationId xmlns:a16="http://schemas.microsoft.com/office/drawing/2014/main" id="{0B0570FE-DFFC-2E7C-3B39-B6958C40B5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F498B2-A234-23FF-96B4-EF8009973804}"/>
              </a:ext>
            </a:extLst>
          </p:cNvPr>
          <p:cNvSpPr>
            <a:spLocks noGrp="1"/>
          </p:cNvSpPr>
          <p:nvPr>
            <p:ph type="sldNum" sz="quarter" idx="12"/>
          </p:nvPr>
        </p:nvSpPr>
        <p:spPr/>
        <p:txBody>
          <a:bodyPr/>
          <a:lstStyle/>
          <a:p>
            <a:fld id="{893800F5-965F-4FAF-84E3-A73E1B9AC437}" type="slidenum">
              <a:rPr lang="en-US" smtClean="0"/>
              <a:t>‹#›</a:t>
            </a:fld>
            <a:endParaRPr lang="en-US"/>
          </a:p>
        </p:txBody>
      </p:sp>
    </p:spTree>
    <p:extLst>
      <p:ext uri="{BB962C8B-B14F-4D97-AF65-F5344CB8AC3E}">
        <p14:creationId xmlns:p14="http://schemas.microsoft.com/office/powerpoint/2010/main" val="13586593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7F4DDF-97F7-31BF-E87E-C02C5864D1B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2BC6BB9-85D3-FFA5-A489-212E2CB6064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6BF7E78-8FE2-14D7-0D61-3D828B7D86A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B2AAB2A-5F1B-842D-4281-5C0CE81E2C87}"/>
              </a:ext>
            </a:extLst>
          </p:cNvPr>
          <p:cNvSpPr>
            <a:spLocks noGrp="1"/>
          </p:cNvSpPr>
          <p:nvPr>
            <p:ph type="dt" sz="half" idx="10"/>
          </p:nvPr>
        </p:nvSpPr>
        <p:spPr/>
        <p:txBody>
          <a:bodyPr/>
          <a:lstStyle/>
          <a:p>
            <a:fld id="{112F9B79-2CDC-408C-82D7-832DFA00A65D}" type="datetimeFigureOut">
              <a:rPr lang="en-US" smtClean="0"/>
              <a:t>9/11/2024</a:t>
            </a:fld>
            <a:endParaRPr lang="en-US"/>
          </a:p>
        </p:txBody>
      </p:sp>
      <p:sp>
        <p:nvSpPr>
          <p:cNvPr id="6" name="Footer Placeholder 5">
            <a:extLst>
              <a:ext uri="{FF2B5EF4-FFF2-40B4-BE49-F238E27FC236}">
                <a16:creationId xmlns:a16="http://schemas.microsoft.com/office/drawing/2014/main" id="{93F2A66C-D38B-A3C9-20EF-D06EF75F03A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9B44FDA-9660-1944-9EBC-98852EFA8366}"/>
              </a:ext>
            </a:extLst>
          </p:cNvPr>
          <p:cNvSpPr>
            <a:spLocks noGrp="1"/>
          </p:cNvSpPr>
          <p:nvPr>
            <p:ph type="sldNum" sz="quarter" idx="12"/>
          </p:nvPr>
        </p:nvSpPr>
        <p:spPr/>
        <p:txBody>
          <a:bodyPr/>
          <a:lstStyle/>
          <a:p>
            <a:fld id="{893800F5-965F-4FAF-84E3-A73E1B9AC437}" type="slidenum">
              <a:rPr lang="en-US" smtClean="0"/>
              <a:t>‹#›</a:t>
            </a:fld>
            <a:endParaRPr lang="en-US"/>
          </a:p>
        </p:txBody>
      </p:sp>
    </p:spTree>
    <p:extLst>
      <p:ext uri="{BB962C8B-B14F-4D97-AF65-F5344CB8AC3E}">
        <p14:creationId xmlns:p14="http://schemas.microsoft.com/office/powerpoint/2010/main" val="32702898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B0BFF-4592-9FFB-555D-CDF8E4E311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DC500A0-BD26-89B3-17E8-DBA21CC4BA9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AAC67CD-C06B-BD50-0E69-638DDEC31E1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31CB1B-35D9-A0FC-418C-786F1744E18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1605076-A8A3-E561-7A7A-05DDB60C20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E128DD5-1248-3A3F-8CDC-7E9DC599E731}"/>
              </a:ext>
            </a:extLst>
          </p:cNvPr>
          <p:cNvSpPr>
            <a:spLocks noGrp="1"/>
          </p:cNvSpPr>
          <p:nvPr>
            <p:ph type="dt" sz="half" idx="10"/>
          </p:nvPr>
        </p:nvSpPr>
        <p:spPr/>
        <p:txBody>
          <a:bodyPr/>
          <a:lstStyle/>
          <a:p>
            <a:fld id="{112F9B79-2CDC-408C-82D7-832DFA00A65D}" type="datetimeFigureOut">
              <a:rPr lang="en-US" smtClean="0"/>
              <a:t>9/11/2024</a:t>
            </a:fld>
            <a:endParaRPr lang="en-US"/>
          </a:p>
        </p:txBody>
      </p:sp>
      <p:sp>
        <p:nvSpPr>
          <p:cNvPr id="8" name="Footer Placeholder 7">
            <a:extLst>
              <a:ext uri="{FF2B5EF4-FFF2-40B4-BE49-F238E27FC236}">
                <a16:creationId xmlns:a16="http://schemas.microsoft.com/office/drawing/2014/main" id="{F229B932-8FA4-14C7-89F4-0CB5A6A4644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780275A-6183-4A76-5416-0F0BAF02DCE2}"/>
              </a:ext>
            </a:extLst>
          </p:cNvPr>
          <p:cNvSpPr>
            <a:spLocks noGrp="1"/>
          </p:cNvSpPr>
          <p:nvPr>
            <p:ph type="sldNum" sz="quarter" idx="12"/>
          </p:nvPr>
        </p:nvSpPr>
        <p:spPr/>
        <p:txBody>
          <a:bodyPr/>
          <a:lstStyle/>
          <a:p>
            <a:fld id="{893800F5-965F-4FAF-84E3-A73E1B9AC437}" type="slidenum">
              <a:rPr lang="en-US" smtClean="0"/>
              <a:t>‹#›</a:t>
            </a:fld>
            <a:endParaRPr lang="en-US"/>
          </a:p>
        </p:txBody>
      </p:sp>
    </p:spTree>
    <p:extLst>
      <p:ext uri="{BB962C8B-B14F-4D97-AF65-F5344CB8AC3E}">
        <p14:creationId xmlns:p14="http://schemas.microsoft.com/office/powerpoint/2010/main" val="27830501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ADE56E-E13B-68CD-FDC5-C951BEC4ABE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E645DC3-8051-226A-C8BF-AD39344808CB}"/>
              </a:ext>
            </a:extLst>
          </p:cNvPr>
          <p:cNvSpPr>
            <a:spLocks noGrp="1"/>
          </p:cNvSpPr>
          <p:nvPr>
            <p:ph type="dt" sz="half" idx="10"/>
          </p:nvPr>
        </p:nvSpPr>
        <p:spPr/>
        <p:txBody>
          <a:bodyPr/>
          <a:lstStyle/>
          <a:p>
            <a:fld id="{112F9B79-2CDC-408C-82D7-832DFA00A65D}" type="datetimeFigureOut">
              <a:rPr lang="en-US" smtClean="0"/>
              <a:t>9/11/2024</a:t>
            </a:fld>
            <a:endParaRPr lang="en-US"/>
          </a:p>
        </p:txBody>
      </p:sp>
      <p:sp>
        <p:nvSpPr>
          <p:cNvPr id="4" name="Footer Placeholder 3">
            <a:extLst>
              <a:ext uri="{FF2B5EF4-FFF2-40B4-BE49-F238E27FC236}">
                <a16:creationId xmlns:a16="http://schemas.microsoft.com/office/drawing/2014/main" id="{894B2E50-7156-C913-B32B-5EDE1AE24D6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58477C2-6A42-659E-A7DE-E9D71B2F033F}"/>
              </a:ext>
            </a:extLst>
          </p:cNvPr>
          <p:cNvSpPr>
            <a:spLocks noGrp="1"/>
          </p:cNvSpPr>
          <p:nvPr>
            <p:ph type="sldNum" sz="quarter" idx="12"/>
          </p:nvPr>
        </p:nvSpPr>
        <p:spPr/>
        <p:txBody>
          <a:bodyPr/>
          <a:lstStyle/>
          <a:p>
            <a:fld id="{893800F5-965F-4FAF-84E3-A73E1B9AC437}" type="slidenum">
              <a:rPr lang="en-US" smtClean="0"/>
              <a:t>‹#›</a:t>
            </a:fld>
            <a:endParaRPr lang="en-US"/>
          </a:p>
        </p:txBody>
      </p:sp>
    </p:spTree>
    <p:extLst>
      <p:ext uri="{BB962C8B-B14F-4D97-AF65-F5344CB8AC3E}">
        <p14:creationId xmlns:p14="http://schemas.microsoft.com/office/powerpoint/2010/main" val="11568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FCC2A9E-4F76-7FC2-5C98-E7EC7FCDEFF6}"/>
              </a:ext>
            </a:extLst>
          </p:cNvPr>
          <p:cNvSpPr>
            <a:spLocks noGrp="1"/>
          </p:cNvSpPr>
          <p:nvPr>
            <p:ph type="dt" sz="half" idx="10"/>
          </p:nvPr>
        </p:nvSpPr>
        <p:spPr/>
        <p:txBody>
          <a:bodyPr/>
          <a:lstStyle/>
          <a:p>
            <a:fld id="{112F9B79-2CDC-408C-82D7-832DFA00A65D}" type="datetimeFigureOut">
              <a:rPr lang="en-US" smtClean="0"/>
              <a:t>9/11/2024</a:t>
            </a:fld>
            <a:endParaRPr lang="en-US"/>
          </a:p>
        </p:txBody>
      </p:sp>
      <p:sp>
        <p:nvSpPr>
          <p:cNvPr id="3" name="Footer Placeholder 2">
            <a:extLst>
              <a:ext uri="{FF2B5EF4-FFF2-40B4-BE49-F238E27FC236}">
                <a16:creationId xmlns:a16="http://schemas.microsoft.com/office/drawing/2014/main" id="{49CF0B58-D640-8003-B05A-5E63BA4921A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5EB4A32-6208-E264-5FC5-8AD216C136D4}"/>
              </a:ext>
            </a:extLst>
          </p:cNvPr>
          <p:cNvSpPr>
            <a:spLocks noGrp="1"/>
          </p:cNvSpPr>
          <p:nvPr>
            <p:ph type="sldNum" sz="quarter" idx="12"/>
          </p:nvPr>
        </p:nvSpPr>
        <p:spPr/>
        <p:txBody>
          <a:bodyPr/>
          <a:lstStyle/>
          <a:p>
            <a:fld id="{893800F5-965F-4FAF-84E3-A73E1B9AC437}" type="slidenum">
              <a:rPr lang="en-US" smtClean="0"/>
              <a:t>‹#›</a:t>
            </a:fld>
            <a:endParaRPr lang="en-US"/>
          </a:p>
        </p:txBody>
      </p:sp>
    </p:spTree>
    <p:extLst>
      <p:ext uri="{BB962C8B-B14F-4D97-AF65-F5344CB8AC3E}">
        <p14:creationId xmlns:p14="http://schemas.microsoft.com/office/powerpoint/2010/main" val="3637431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C850AA-E713-B7AD-4A20-1F80441B13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C691C20-CB35-C302-FFE5-DE6351AC2F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EDD32C7-A76C-9E71-A3A5-7D7C761C16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7C04913-7F31-402E-5094-6CFBCA1F056F}"/>
              </a:ext>
            </a:extLst>
          </p:cNvPr>
          <p:cNvSpPr>
            <a:spLocks noGrp="1"/>
          </p:cNvSpPr>
          <p:nvPr>
            <p:ph type="dt" sz="half" idx="10"/>
          </p:nvPr>
        </p:nvSpPr>
        <p:spPr/>
        <p:txBody>
          <a:bodyPr/>
          <a:lstStyle/>
          <a:p>
            <a:fld id="{112F9B79-2CDC-408C-82D7-832DFA00A65D}" type="datetimeFigureOut">
              <a:rPr lang="en-US" smtClean="0"/>
              <a:t>9/11/2024</a:t>
            </a:fld>
            <a:endParaRPr lang="en-US"/>
          </a:p>
        </p:txBody>
      </p:sp>
      <p:sp>
        <p:nvSpPr>
          <p:cNvPr id="6" name="Footer Placeholder 5">
            <a:extLst>
              <a:ext uri="{FF2B5EF4-FFF2-40B4-BE49-F238E27FC236}">
                <a16:creationId xmlns:a16="http://schemas.microsoft.com/office/drawing/2014/main" id="{5782FDFD-1860-CBF5-C99F-093B158459D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47A08F-BEFF-1CA3-8112-55B1422BC9C4}"/>
              </a:ext>
            </a:extLst>
          </p:cNvPr>
          <p:cNvSpPr>
            <a:spLocks noGrp="1"/>
          </p:cNvSpPr>
          <p:nvPr>
            <p:ph type="sldNum" sz="quarter" idx="12"/>
          </p:nvPr>
        </p:nvSpPr>
        <p:spPr/>
        <p:txBody>
          <a:bodyPr/>
          <a:lstStyle/>
          <a:p>
            <a:fld id="{893800F5-965F-4FAF-84E3-A73E1B9AC437}" type="slidenum">
              <a:rPr lang="en-US" smtClean="0"/>
              <a:t>‹#›</a:t>
            </a:fld>
            <a:endParaRPr lang="en-US"/>
          </a:p>
        </p:txBody>
      </p:sp>
    </p:spTree>
    <p:extLst>
      <p:ext uri="{BB962C8B-B14F-4D97-AF65-F5344CB8AC3E}">
        <p14:creationId xmlns:p14="http://schemas.microsoft.com/office/powerpoint/2010/main" val="35850478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E60EE-0F5E-C3A9-BAE9-3B95B83368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93AC4C7-7EB4-060F-7A9D-DD05173B53F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32EDE86-4D94-5F56-CADE-6E9046DFEA0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8561FD4-C8F5-5F48-628B-C26BDE4E9231}"/>
              </a:ext>
            </a:extLst>
          </p:cNvPr>
          <p:cNvSpPr>
            <a:spLocks noGrp="1"/>
          </p:cNvSpPr>
          <p:nvPr>
            <p:ph type="dt" sz="half" idx="10"/>
          </p:nvPr>
        </p:nvSpPr>
        <p:spPr/>
        <p:txBody>
          <a:bodyPr/>
          <a:lstStyle/>
          <a:p>
            <a:fld id="{112F9B79-2CDC-408C-82D7-832DFA00A65D}" type="datetimeFigureOut">
              <a:rPr lang="en-US" smtClean="0"/>
              <a:t>9/11/2024</a:t>
            </a:fld>
            <a:endParaRPr lang="en-US"/>
          </a:p>
        </p:txBody>
      </p:sp>
      <p:sp>
        <p:nvSpPr>
          <p:cNvPr id="6" name="Footer Placeholder 5">
            <a:extLst>
              <a:ext uri="{FF2B5EF4-FFF2-40B4-BE49-F238E27FC236}">
                <a16:creationId xmlns:a16="http://schemas.microsoft.com/office/drawing/2014/main" id="{446F746D-D56B-F57C-7DBE-E17DA61AA67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69FB28-6F1C-AFAF-A25D-AA463EF2142E}"/>
              </a:ext>
            </a:extLst>
          </p:cNvPr>
          <p:cNvSpPr>
            <a:spLocks noGrp="1"/>
          </p:cNvSpPr>
          <p:nvPr>
            <p:ph type="sldNum" sz="quarter" idx="12"/>
          </p:nvPr>
        </p:nvSpPr>
        <p:spPr/>
        <p:txBody>
          <a:bodyPr/>
          <a:lstStyle/>
          <a:p>
            <a:fld id="{893800F5-965F-4FAF-84E3-A73E1B9AC437}" type="slidenum">
              <a:rPr lang="en-US" smtClean="0"/>
              <a:t>‹#›</a:t>
            </a:fld>
            <a:endParaRPr lang="en-US"/>
          </a:p>
        </p:txBody>
      </p:sp>
    </p:spTree>
    <p:extLst>
      <p:ext uri="{BB962C8B-B14F-4D97-AF65-F5344CB8AC3E}">
        <p14:creationId xmlns:p14="http://schemas.microsoft.com/office/powerpoint/2010/main" val="6083069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112ED5-8C1C-3EE4-B9BA-769724327E8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54CD49E-65E1-654F-8A04-D4E41D48389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2CD8935-0BB6-A6C5-4A31-EEBD442B3D4A}"/>
              </a:ext>
            </a:extLst>
          </p:cNvPr>
          <p:cNvSpPr>
            <a:spLocks noGrp="1"/>
          </p:cNvSpPr>
          <p:nvPr>
            <p:ph type="dt" sz="half" idx="10"/>
          </p:nvPr>
        </p:nvSpPr>
        <p:spPr/>
        <p:txBody>
          <a:bodyPr/>
          <a:lstStyle/>
          <a:p>
            <a:fld id="{112F9B79-2CDC-408C-82D7-832DFA00A65D}" type="datetimeFigureOut">
              <a:rPr lang="en-US" smtClean="0"/>
              <a:t>9/11/2024</a:t>
            </a:fld>
            <a:endParaRPr lang="en-US"/>
          </a:p>
        </p:txBody>
      </p:sp>
      <p:sp>
        <p:nvSpPr>
          <p:cNvPr id="5" name="Footer Placeholder 4">
            <a:extLst>
              <a:ext uri="{FF2B5EF4-FFF2-40B4-BE49-F238E27FC236}">
                <a16:creationId xmlns:a16="http://schemas.microsoft.com/office/drawing/2014/main" id="{0D750A16-531F-5B65-CAAF-F80CC9F5EE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065253-E2A1-E335-11DD-2BA0804F93E0}"/>
              </a:ext>
            </a:extLst>
          </p:cNvPr>
          <p:cNvSpPr>
            <a:spLocks noGrp="1"/>
          </p:cNvSpPr>
          <p:nvPr>
            <p:ph type="sldNum" sz="quarter" idx="12"/>
          </p:nvPr>
        </p:nvSpPr>
        <p:spPr/>
        <p:txBody>
          <a:bodyPr/>
          <a:lstStyle/>
          <a:p>
            <a:fld id="{893800F5-965F-4FAF-84E3-A73E1B9AC437}" type="slidenum">
              <a:rPr lang="en-US" smtClean="0"/>
              <a:t>‹#›</a:t>
            </a:fld>
            <a:endParaRPr lang="en-US"/>
          </a:p>
        </p:txBody>
      </p:sp>
    </p:spTree>
    <p:extLst>
      <p:ext uri="{BB962C8B-B14F-4D97-AF65-F5344CB8AC3E}">
        <p14:creationId xmlns:p14="http://schemas.microsoft.com/office/powerpoint/2010/main" val="40466502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9C67FA7-3AA7-8DA1-DBB3-804474DCCFF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A05BAA4-E50F-AD31-0760-CEDDF47E4F9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A10D33-26E9-E1C1-16D3-C027A1B7ECCB}"/>
              </a:ext>
            </a:extLst>
          </p:cNvPr>
          <p:cNvSpPr>
            <a:spLocks noGrp="1"/>
          </p:cNvSpPr>
          <p:nvPr>
            <p:ph type="dt" sz="half" idx="10"/>
          </p:nvPr>
        </p:nvSpPr>
        <p:spPr/>
        <p:txBody>
          <a:bodyPr/>
          <a:lstStyle/>
          <a:p>
            <a:fld id="{112F9B79-2CDC-408C-82D7-832DFA00A65D}" type="datetimeFigureOut">
              <a:rPr lang="en-US" smtClean="0"/>
              <a:t>9/11/2024</a:t>
            </a:fld>
            <a:endParaRPr lang="en-US"/>
          </a:p>
        </p:txBody>
      </p:sp>
      <p:sp>
        <p:nvSpPr>
          <p:cNvPr id="5" name="Footer Placeholder 4">
            <a:extLst>
              <a:ext uri="{FF2B5EF4-FFF2-40B4-BE49-F238E27FC236}">
                <a16:creationId xmlns:a16="http://schemas.microsoft.com/office/drawing/2014/main" id="{9EF6ED40-F1F2-3933-03C3-0363173C4FB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A7E975-10F0-CF76-6A95-2D77C761C96E}"/>
              </a:ext>
            </a:extLst>
          </p:cNvPr>
          <p:cNvSpPr>
            <a:spLocks noGrp="1"/>
          </p:cNvSpPr>
          <p:nvPr>
            <p:ph type="sldNum" sz="quarter" idx="12"/>
          </p:nvPr>
        </p:nvSpPr>
        <p:spPr/>
        <p:txBody>
          <a:bodyPr/>
          <a:lstStyle/>
          <a:p>
            <a:fld id="{893800F5-965F-4FAF-84E3-A73E1B9AC437}" type="slidenum">
              <a:rPr lang="en-US" smtClean="0"/>
              <a:t>‹#›</a:t>
            </a:fld>
            <a:endParaRPr lang="en-US"/>
          </a:p>
        </p:txBody>
      </p:sp>
    </p:spTree>
    <p:extLst>
      <p:ext uri="{BB962C8B-B14F-4D97-AF65-F5344CB8AC3E}">
        <p14:creationId xmlns:p14="http://schemas.microsoft.com/office/powerpoint/2010/main" val="36379027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E0A27E8-E248-53F3-4415-FE0DDE5A507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BB24C1A-55A7-8B01-FD62-209CFD324AF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C83D97-39C1-8735-9D70-B75BE3B3A0F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12F9B79-2CDC-408C-82D7-832DFA00A65D}" type="datetimeFigureOut">
              <a:rPr lang="en-US" smtClean="0"/>
              <a:t>9/11/2024</a:t>
            </a:fld>
            <a:endParaRPr lang="en-US"/>
          </a:p>
        </p:txBody>
      </p:sp>
      <p:sp>
        <p:nvSpPr>
          <p:cNvPr id="5" name="Footer Placeholder 4">
            <a:extLst>
              <a:ext uri="{FF2B5EF4-FFF2-40B4-BE49-F238E27FC236}">
                <a16:creationId xmlns:a16="http://schemas.microsoft.com/office/drawing/2014/main" id="{0C686D16-A226-78D8-DAD6-560352DEDAB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D6CE0CC-178F-9F9C-E004-7CDD262D9BA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93800F5-965F-4FAF-84E3-A73E1B9AC437}" type="slidenum">
              <a:rPr lang="en-US" smtClean="0"/>
              <a:t>‹#›</a:t>
            </a:fld>
            <a:endParaRPr lang="en-US"/>
          </a:p>
        </p:txBody>
      </p:sp>
    </p:spTree>
    <p:extLst>
      <p:ext uri="{BB962C8B-B14F-4D97-AF65-F5344CB8AC3E}">
        <p14:creationId xmlns:p14="http://schemas.microsoft.com/office/powerpoint/2010/main" val="3441347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2DB25C-B74D-B33B-A1A4-26296ECFB8DC}"/>
              </a:ext>
            </a:extLst>
          </p:cNvPr>
          <p:cNvSpPr>
            <a:spLocks noGrp="1"/>
          </p:cNvSpPr>
          <p:nvPr>
            <p:ph type="ctrTitle"/>
          </p:nvPr>
        </p:nvSpPr>
        <p:spPr/>
        <p:txBody>
          <a:bodyPr>
            <a:normAutofit fontScale="90000"/>
          </a:bodyPr>
          <a:lstStyle/>
          <a:p>
            <a:r>
              <a:rPr lang="en-US" dirty="0">
                <a:solidFill>
                  <a:schemeClr val="accent5">
                    <a:lumMod val="75000"/>
                  </a:schemeClr>
                </a:solidFill>
                <a:latin typeface="Bahnschrift" panose="020B0502040204020203" pitchFamily="34" charset="0"/>
              </a:rPr>
              <a:t>Psilocybin desynchronizes the human brain</a:t>
            </a:r>
          </a:p>
        </p:txBody>
      </p:sp>
      <p:sp>
        <p:nvSpPr>
          <p:cNvPr id="3" name="Subtitle 2">
            <a:extLst>
              <a:ext uri="{FF2B5EF4-FFF2-40B4-BE49-F238E27FC236}">
                <a16:creationId xmlns:a16="http://schemas.microsoft.com/office/drawing/2014/main" id="{D878C382-FC06-9315-3AFA-08F252A67938}"/>
              </a:ext>
            </a:extLst>
          </p:cNvPr>
          <p:cNvSpPr>
            <a:spLocks noGrp="1"/>
          </p:cNvSpPr>
          <p:nvPr>
            <p:ph type="subTitle" idx="1"/>
          </p:nvPr>
        </p:nvSpPr>
        <p:spPr/>
        <p:txBody>
          <a:bodyPr/>
          <a:lstStyle/>
          <a:p>
            <a:r>
              <a:rPr lang="en-US" dirty="0">
                <a:solidFill>
                  <a:schemeClr val="bg2">
                    <a:lumMod val="50000"/>
                  </a:schemeClr>
                </a:solidFill>
                <a:latin typeface="Bahnschrift" panose="020B0502040204020203" pitchFamily="34" charset="0"/>
              </a:rPr>
              <a:t>Siegel et al.</a:t>
            </a:r>
          </a:p>
          <a:p>
            <a:r>
              <a:rPr lang="en-US" dirty="0">
                <a:solidFill>
                  <a:schemeClr val="bg2">
                    <a:lumMod val="50000"/>
                  </a:schemeClr>
                </a:solidFill>
                <a:latin typeface="Bahnschrift" panose="020B0502040204020203" pitchFamily="34" charset="0"/>
              </a:rPr>
              <a:t>Nature, August 2024</a:t>
            </a:r>
          </a:p>
        </p:txBody>
      </p:sp>
    </p:spTree>
    <p:extLst>
      <p:ext uri="{BB962C8B-B14F-4D97-AF65-F5344CB8AC3E}">
        <p14:creationId xmlns:p14="http://schemas.microsoft.com/office/powerpoint/2010/main" val="32416051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p:txBody>
          <a:bodyPr/>
          <a:lstStyle/>
          <a:p>
            <a:r>
              <a:rPr lang="en-US" dirty="0">
                <a:solidFill>
                  <a:schemeClr val="accent5">
                    <a:lumMod val="75000"/>
                  </a:schemeClr>
                </a:solidFill>
                <a:latin typeface="Bahnschrift" panose="020B0502040204020203" pitchFamily="34" charset="0"/>
              </a:rPr>
              <a:t>Highlights</a:t>
            </a:r>
          </a:p>
        </p:txBody>
      </p:sp>
      <p:sp>
        <p:nvSpPr>
          <p:cNvPr id="3" name="Content Placeholder 2">
            <a:extLst>
              <a:ext uri="{FF2B5EF4-FFF2-40B4-BE49-F238E27FC236}">
                <a16:creationId xmlns:a16="http://schemas.microsoft.com/office/drawing/2014/main" id="{8A336965-DAE7-02B2-B0F1-568BE91C2B0D}"/>
              </a:ext>
            </a:extLst>
          </p:cNvPr>
          <p:cNvSpPr>
            <a:spLocks noGrp="1"/>
          </p:cNvSpPr>
          <p:nvPr>
            <p:ph idx="1"/>
          </p:nvPr>
        </p:nvSpPr>
        <p:spPr/>
        <p:txBody>
          <a:bodyPr/>
          <a:lstStyle/>
          <a:p>
            <a:r>
              <a:rPr lang="en-US" dirty="0"/>
              <a:t>Dense longitudinal sampling of functional connectivity.</a:t>
            </a:r>
          </a:p>
          <a:p>
            <a:r>
              <a:rPr lang="en-US" dirty="0"/>
              <a:t>Task demands modulate FC during psilocybin exposure.</a:t>
            </a:r>
          </a:p>
          <a:p>
            <a:r>
              <a:rPr lang="en-US" dirty="0"/>
              <a:t>Persistent DMN-Hippocampal FC reduction.</a:t>
            </a:r>
          </a:p>
          <a:p>
            <a:endParaRPr lang="en-US" dirty="0"/>
          </a:p>
        </p:txBody>
      </p:sp>
    </p:spTree>
    <p:extLst>
      <p:ext uri="{BB962C8B-B14F-4D97-AF65-F5344CB8AC3E}">
        <p14:creationId xmlns:p14="http://schemas.microsoft.com/office/powerpoint/2010/main" val="27787106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p:txBody>
          <a:bodyPr/>
          <a:lstStyle/>
          <a:p>
            <a:r>
              <a:rPr lang="en-US" dirty="0">
                <a:solidFill>
                  <a:schemeClr val="accent5">
                    <a:lumMod val="75000"/>
                  </a:schemeClr>
                </a:solidFill>
                <a:latin typeface="Bahnschrift" panose="020B0502040204020203" pitchFamily="34" charset="0"/>
              </a:rPr>
              <a:t>Experiment</a:t>
            </a:r>
          </a:p>
        </p:txBody>
      </p:sp>
      <p:sp>
        <p:nvSpPr>
          <p:cNvPr id="3" name="Content Placeholder 2">
            <a:extLst>
              <a:ext uri="{FF2B5EF4-FFF2-40B4-BE49-F238E27FC236}">
                <a16:creationId xmlns:a16="http://schemas.microsoft.com/office/drawing/2014/main" id="{8A336965-DAE7-02B2-B0F1-568BE91C2B0D}"/>
              </a:ext>
            </a:extLst>
          </p:cNvPr>
          <p:cNvSpPr>
            <a:spLocks noGrp="1"/>
          </p:cNvSpPr>
          <p:nvPr>
            <p:ph idx="1"/>
          </p:nvPr>
        </p:nvSpPr>
        <p:spPr/>
        <p:txBody>
          <a:bodyPr/>
          <a:lstStyle/>
          <a:p>
            <a:r>
              <a:rPr lang="en-US" dirty="0"/>
              <a:t>7 participants</a:t>
            </a:r>
          </a:p>
          <a:p>
            <a:r>
              <a:rPr lang="en-US" dirty="0"/>
              <a:t>At least one prior psilocybin experience.</a:t>
            </a:r>
          </a:p>
          <a:p>
            <a:r>
              <a:rPr lang="en-US" dirty="0"/>
              <a:t>No psilocybin in the 6 months prior to scanning.</a:t>
            </a:r>
          </a:p>
          <a:p>
            <a:r>
              <a:rPr lang="en-US" dirty="0"/>
              <a:t>~18 scans each</a:t>
            </a:r>
          </a:p>
          <a:p>
            <a:endParaRPr lang="en-US" dirty="0"/>
          </a:p>
          <a:p>
            <a:endParaRPr lang="en-US" dirty="0"/>
          </a:p>
          <a:p>
            <a:endParaRPr lang="en-US" dirty="0"/>
          </a:p>
        </p:txBody>
      </p:sp>
    </p:spTree>
    <p:extLst>
      <p:ext uri="{BB962C8B-B14F-4D97-AF65-F5344CB8AC3E}">
        <p14:creationId xmlns:p14="http://schemas.microsoft.com/office/powerpoint/2010/main" val="2087407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p:txBody>
          <a:bodyPr/>
          <a:lstStyle/>
          <a:p>
            <a:r>
              <a:rPr lang="en-US" dirty="0">
                <a:solidFill>
                  <a:schemeClr val="accent5">
                    <a:lumMod val="75000"/>
                  </a:schemeClr>
                </a:solidFill>
                <a:latin typeface="Bahnschrift" panose="020B0502040204020203" pitchFamily="34" charset="0"/>
              </a:rPr>
              <a:t>Experiment</a:t>
            </a:r>
          </a:p>
        </p:txBody>
      </p:sp>
      <p:sp>
        <p:nvSpPr>
          <p:cNvPr id="3" name="Content Placeholder 2">
            <a:extLst>
              <a:ext uri="{FF2B5EF4-FFF2-40B4-BE49-F238E27FC236}">
                <a16:creationId xmlns:a16="http://schemas.microsoft.com/office/drawing/2014/main" id="{8A336965-DAE7-02B2-B0F1-568BE91C2B0D}"/>
              </a:ext>
            </a:extLst>
          </p:cNvPr>
          <p:cNvSpPr>
            <a:spLocks noGrp="1"/>
          </p:cNvSpPr>
          <p:nvPr>
            <p:ph idx="1"/>
          </p:nvPr>
        </p:nvSpPr>
        <p:spPr/>
        <p:txBody>
          <a:bodyPr/>
          <a:lstStyle/>
          <a:p>
            <a:r>
              <a:rPr lang="en-US" dirty="0"/>
              <a:t>&gt;= 10 baseline scans</a:t>
            </a:r>
          </a:p>
          <a:p>
            <a:r>
              <a:rPr lang="en-US" dirty="0"/>
              <a:t>Single 25mg psilocybin scan</a:t>
            </a:r>
          </a:p>
          <a:p>
            <a:r>
              <a:rPr lang="en-US" dirty="0"/>
              <a:t>Single 40mg methylphenidate (MTP) scan</a:t>
            </a:r>
          </a:p>
          <a:p>
            <a:r>
              <a:rPr lang="en-US" dirty="0"/>
              <a:t>Additional psilocybin scan 6-12 months later</a:t>
            </a:r>
          </a:p>
          <a:p>
            <a:endParaRPr lang="en-US" dirty="0"/>
          </a:p>
          <a:p>
            <a:endParaRPr lang="en-US" dirty="0"/>
          </a:p>
          <a:p>
            <a:endParaRPr lang="en-US" dirty="0"/>
          </a:p>
        </p:txBody>
      </p:sp>
    </p:spTree>
    <p:extLst>
      <p:ext uri="{BB962C8B-B14F-4D97-AF65-F5344CB8AC3E}">
        <p14:creationId xmlns:p14="http://schemas.microsoft.com/office/powerpoint/2010/main" val="12360532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screenshot of a computer&#10;&#10;Description automatically generated">
            <a:extLst>
              <a:ext uri="{FF2B5EF4-FFF2-40B4-BE49-F238E27FC236}">
                <a16:creationId xmlns:a16="http://schemas.microsoft.com/office/drawing/2014/main" id="{81B66784-BAC7-4AE7-E791-C0E5CEF03D88}"/>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85786" y="705823"/>
            <a:ext cx="11020427" cy="5787052"/>
          </a:xfrm>
        </p:spPr>
      </p:pic>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p:txBody>
          <a:bodyPr/>
          <a:lstStyle/>
          <a:p>
            <a:r>
              <a:rPr lang="en-US" dirty="0">
                <a:solidFill>
                  <a:schemeClr val="accent5">
                    <a:lumMod val="75000"/>
                  </a:schemeClr>
                </a:solidFill>
                <a:latin typeface="Bahnschrift" panose="020B0502040204020203" pitchFamily="34" charset="0"/>
              </a:rPr>
              <a:t>Experiment</a:t>
            </a:r>
          </a:p>
        </p:txBody>
      </p:sp>
    </p:spTree>
    <p:extLst>
      <p:ext uri="{BB962C8B-B14F-4D97-AF65-F5344CB8AC3E}">
        <p14:creationId xmlns:p14="http://schemas.microsoft.com/office/powerpoint/2010/main" val="35759974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a:xfrm>
            <a:off x="838200" y="365125"/>
            <a:ext cx="10820400" cy="1325563"/>
          </a:xfrm>
        </p:spPr>
        <p:txBody>
          <a:bodyPr>
            <a:normAutofit/>
          </a:bodyPr>
          <a:lstStyle/>
          <a:p>
            <a:r>
              <a:rPr lang="en-US" sz="2400" dirty="0">
                <a:solidFill>
                  <a:schemeClr val="accent5">
                    <a:lumMod val="75000"/>
                  </a:schemeClr>
                </a:solidFill>
                <a:latin typeface="Bahnschrift" panose="020B0502040204020203" pitchFamily="34" charset="0"/>
              </a:rPr>
              <a:t>Fig. 1 - Acute psilocybin effects on functional brain organization.</a:t>
            </a:r>
          </a:p>
        </p:txBody>
      </p:sp>
      <p:pic>
        <p:nvPicPr>
          <p:cNvPr id="5" name="Content Placeholder 4" descr="A collage of images of human brain&#10;&#10;Description automatically generated">
            <a:extLst>
              <a:ext uri="{FF2B5EF4-FFF2-40B4-BE49-F238E27FC236}">
                <a16:creationId xmlns:a16="http://schemas.microsoft.com/office/drawing/2014/main" id="{4526CC6D-E4D8-15B2-0E1C-FE63CBCA2BD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38200" y="1554161"/>
            <a:ext cx="10590574" cy="4938713"/>
          </a:xfrm>
        </p:spPr>
      </p:pic>
    </p:spTree>
    <p:extLst>
      <p:ext uri="{BB962C8B-B14F-4D97-AF65-F5344CB8AC3E}">
        <p14:creationId xmlns:p14="http://schemas.microsoft.com/office/powerpoint/2010/main" val="14498173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4">
            <a:extLst>
              <a:ext uri="{FF2B5EF4-FFF2-40B4-BE49-F238E27FC236}">
                <a16:creationId xmlns:a16="http://schemas.microsoft.com/office/drawing/2014/main" id="{3085A645-6148-62BA-2F01-8E88DCDE8B37}"/>
              </a:ext>
            </a:extLst>
          </p:cNvPr>
          <p:cNvPicPr>
            <a:picLocks noChangeAspect="1"/>
          </p:cNvPicPr>
          <p:nvPr/>
        </p:nvPicPr>
        <p:blipFill>
          <a:blip r:embed="rId3">
            <a:extLst>
              <a:ext uri="{28A0092B-C50C-407E-A947-70E740481C1C}">
                <a14:useLocalDpi xmlns:a14="http://schemas.microsoft.com/office/drawing/2010/main" val="0"/>
              </a:ext>
            </a:extLst>
          </a:blip>
          <a:srcRect r="3117"/>
          <a:stretch/>
        </p:blipFill>
        <p:spPr>
          <a:xfrm>
            <a:off x="838200" y="1156497"/>
            <a:ext cx="11353800" cy="5464968"/>
          </a:xfrm>
          <a:prstGeom prst="rect">
            <a:avLst/>
          </a:prstGeom>
        </p:spPr>
      </p:pic>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a:xfrm>
            <a:off x="838200" y="365125"/>
            <a:ext cx="10820400" cy="1325563"/>
          </a:xfrm>
        </p:spPr>
        <p:txBody>
          <a:bodyPr>
            <a:normAutofit/>
          </a:bodyPr>
          <a:lstStyle/>
          <a:p>
            <a:r>
              <a:rPr lang="en-US" sz="2400" dirty="0">
                <a:solidFill>
                  <a:schemeClr val="accent5">
                    <a:lumMod val="75000"/>
                  </a:schemeClr>
                </a:solidFill>
                <a:latin typeface="Bahnschrift" panose="020B0502040204020203" pitchFamily="34" charset="0"/>
              </a:rPr>
              <a:t>Fig. 2 – Data-driven clustering of brain network variability</a:t>
            </a:r>
          </a:p>
        </p:txBody>
      </p:sp>
    </p:spTree>
    <p:extLst>
      <p:ext uri="{BB962C8B-B14F-4D97-AF65-F5344CB8AC3E}">
        <p14:creationId xmlns:p14="http://schemas.microsoft.com/office/powerpoint/2010/main" val="19250905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a:xfrm>
            <a:off x="838200" y="365125"/>
            <a:ext cx="10820400" cy="1325563"/>
          </a:xfrm>
        </p:spPr>
        <p:txBody>
          <a:bodyPr>
            <a:normAutofit/>
          </a:bodyPr>
          <a:lstStyle/>
          <a:p>
            <a:r>
              <a:rPr lang="en-US" sz="2400" dirty="0">
                <a:solidFill>
                  <a:schemeClr val="accent5">
                    <a:lumMod val="75000"/>
                  </a:schemeClr>
                </a:solidFill>
                <a:latin typeface="Bahnschrift" panose="020B0502040204020203" pitchFamily="34" charset="0"/>
              </a:rPr>
              <a:t>Fig. 2 - Spatial desynchronization of cortical activity during psilocybin.</a:t>
            </a:r>
          </a:p>
        </p:txBody>
      </p:sp>
      <p:pic>
        <p:nvPicPr>
          <p:cNvPr id="5" name="Content Placeholder 4">
            <a:extLst>
              <a:ext uri="{FF2B5EF4-FFF2-40B4-BE49-F238E27FC236}">
                <a16:creationId xmlns:a16="http://schemas.microsoft.com/office/drawing/2014/main" id="{4526CC6D-E4D8-15B2-0E1C-FE63CBCA2BDC}"/>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838200" y="1554161"/>
            <a:ext cx="10590574" cy="4938713"/>
          </a:xfrm>
        </p:spPr>
      </p:pic>
    </p:spTree>
    <p:extLst>
      <p:ext uri="{BB962C8B-B14F-4D97-AF65-F5344CB8AC3E}">
        <p14:creationId xmlns:p14="http://schemas.microsoft.com/office/powerpoint/2010/main" val="24819103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p:txBody>
          <a:bodyPr/>
          <a:lstStyle/>
          <a:p>
            <a:r>
              <a:rPr lang="en-US" dirty="0">
                <a:solidFill>
                  <a:schemeClr val="accent5">
                    <a:lumMod val="75000"/>
                  </a:schemeClr>
                </a:solidFill>
                <a:latin typeface="Bahnschrift" panose="020B0502040204020203" pitchFamily="34" charset="0"/>
              </a:rPr>
              <a:t>FC change predicts mystical experience</a:t>
            </a:r>
          </a:p>
        </p:txBody>
      </p:sp>
      <p:sp>
        <p:nvSpPr>
          <p:cNvPr id="8" name="Content Placeholder 7">
            <a:extLst>
              <a:ext uri="{FF2B5EF4-FFF2-40B4-BE49-F238E27FC236}">
                <a16:creationId xmlns:a16="http://schemas.microsoft.com/office/drawing/2014/main" id="{F115A4E4-DC7E-9F9E-B644-D1EEE365CE1C}"/>
              </a:ext>
            </a:extLst>
          </p:cNvPr>
          <p:cNvSpPr>
            <a:spLocks noGrp="1"/>
          </p:cNvSpPr>
          <p:nvPr>
            <p:ph idx="1"/>
          </p:nvPr>
        </p:nvSpPr>
        <p:spPr/>
        <p:txBody>
          <a:bodyPr/>
          <a:lstStyle/>
          <a:p>
            <a:r>
              <a:rPr lang="en-US" dirty="0"/>
              <a:t>Participants completed the MEQ30 after each drug session.</a:t>
            </a:r>
          </a:p>
          <a:p>
            <a:r>
              <a:rPr lang="en-US" dirty="0"/>
              <a:t>MEQ measures four dimensions:</a:t>
            </a:r>
          </a:p>
          <a:p>
            <a:pPr lvl="1"/>
            <a:r>
              <a:rPr lang="en-US" dirty="0"/>
              <a:t>Mystical</a:t>
            </a:r>
          </a:p>
          <a:p>
            <a:pPr lvl="1"/>
            <a:r>
              <a:rPr lang="en-US" dirty="0"/>
              <a:t>Positive mood</a:t>
            </a:r>
          </a:p>
          <a:p>
            <a:pPr lvl="1"/>
            <a:r>
              <a:rPr lang="en-US" dirty="0"/>
              <a:t>Transcendence of time &amp; space</a:t>
            </a:r>
          </a:p>
          <a:p>
            <a:pPr lvl="1"/>
            <a:r>
              <a:rPr lang="en-US" dirty="0"/>
              <a:t>Ineffability</a:t>
            </a:r>
          </a:p>
          <a:p>
            <a:r>
              <a:rPr lang="en-US" dirty="0"/>
              <a:t>FC Change predicted MEQ30 score.</a:t>
            </a:r>
          </a:p>
          <a:p>
            <a:endParaRPr lang="en-US" dirty="0"/>
          </a:p>
        </p:txBody>
      </p:sp>
    </p:spTree>
    <p:extLst>
      <p:ext uri="{BB962C8B-B14F-4D97-AF65-F5344CB8AC3E}">
        <p14:creationId xmlns:p14="http://schemas.microsoft.com/office/powerpoint/2010/main" val="27682459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p:txBody>
          <a:bodyPr>
            <a:normAutofit/>
          </a:bodyPr>
          <a:lstStyle/>
          <a:p>
            <a:r>
              <a:rPr lang="en-US" sz="2400" dirty="0">
                <a:solidFill>
                  <a:schemeClr val="accent5">
                    <a:lumMod val="75000"/>
                  </a:schemeClr>
                </a:solidFill>
                <a:latin typeface="Bahnschrift" panose="020B0502040204020203" pitchFamily="34" charset="0"/>
              </a:rPr>
              <a:t>MEQ30 – Rated on a 5 pt. Likert Scale</a:t>
            </a:r>
          </a:p>
        </p:txBody>
      </p:sp>
      <p:sp>
        <p:nvSpPr>
          <p:cNvPr id="8" name="Content Placeholder 7">
            <a:extLst>
              <a:ext uri="{FF2B5EF4-FFF2-40B4-BE49-F238E27FC236}">
                <a16:creationId xmlns:a16="http://schemas.microsoft.com/office/drawing/2014/main" id="{F115A4E4-DC7E-9F9E-B644-D1EEE365CE1C}"/>
              </a:ext>
            </a:extLst>
          </p:cNvPr>
          <p:cNvSpPr>
            <a:spLocks noGrp="1"/>
          </p:cNvSpPr>
          <p:nvPr>
            <p:ph idx="1"/>
          </p:nvPr>
        </p:nvSpPr>
        <p:spPr>
          <a:xfrm>
            <a:off x="838199" y="1825625"/>
            <a:ext cx="12120563" cy="4351338"/>
          </a:xfrm>
        </p:spPr>
        <p:txBody>
          <a:bodyPr>
            <a:noAutofit/>
          </a:bodyPr>
          <a:lstStyle/>
          <a:p>
            <a:pPr marL="342900" indent="-342900">
              <a:buFont typeface="+mj-lt"/>
              <a:buAutoNum type="arabicPeriod"/>
            </a:pPr>
            <a:r>
              <a:rPr lang="en-US" sz="1200" i="0" dirty="0">
                <a:solidFill>
                  <a:srgbClr val="222222"/>
                </a:solidFill>
                <a:effectLst/>
                <a:latin typeface="noto sans" panose="020B0502040504020204" pitchFamily="34" charset="0"/>
                <a:ea typeface="noto sans" panose="020B0502040504020204" pitchFamily="34" charset="0"/>
                <a:cs typeface="noto sans" panose="020B0502040504020204" pitchFamily="34" charset="0"/>
              </a:rPr>
              <a:t>Freedom from the limitations of your personal self and feeling a unity or bond with what was felt to be greater than your personal self.</a:t>
            </a:r>
          </a:p>
          <a:p>
            <a:pPr marL="342900" indent="-342900">
              <a:buFont typeface="+mj-lt"/>
              <a:buAutoNum type="arabicPeriod"/>
            </a:pPr>
            <a:r>
              <a:rPr lang="en-US" sz="1200" i="0" dirty="0">
                <a:solidFill>
                  <a:srgbClr val="222222"/>
                </a:solidFill>
                <a:effectLst/>
                <a:latin typeface="noto sans" panose="020B0502040504020204" pitchFamily="34" charset="0"/>
                <a:ea typeface="noto sans" panose="020B0502040504020204" pitchFamily="34" charset="0"/>
                <a:cs typeface="noto sans" panose="020B0502040504020204" pitchFamily="34" charset="0"/>
              </a:rPr>
              <a:t>Experience of pure being and pure awareness (beyond the world of sense impressions).</a:t>
            </a:r>
          </a:p>
          <a:p>
            <a:pPr marL="342900" indent="-342900">
              <a:buFont typeface="+mj-lt"/>
              <a:buAutoNum type="arabicPeriod"/>
            </a:pPr>
            <a:r>
              <a:rPr lang="en-US" sz="1200" i="0" dirty="0">
                <a:solidFill>
                  <a:srgbClr val="222222"/>
                </a:solidFill>
                <a:effectLst/>
                <a:latin typeface="noto sans" panose="020B0502040504020204" pitchFamily="34" charset="0"/>
                <a:ea typeface="noto sans" panose="020B0502040504020204" pitchFamily="34" charset="0"/>
                <a:cs typeface="noto sans" panose="020B0502040504020204" pitchFamily="34" charset="0"/>
              </a:rPr>
              <a:t>Experience of oneness in relation to an “inner world” within.</a:t>
            </a:r>
            <a:endParaRPr lang="en-US" sz="1200" dirty="0">
              <a:solidFill>
                <a:srgbClr val="222222"/>
              </a:solidFill>
              <a:latin typeface="noto sans" panose="020B0502040504020204" pitchFamily="34" charset="0"/>
              <a:ea typeface="noto sans" panose="020B0502040504020204" pitchFamily="34" charset="0"/>
              <a:cs typeface="noto sans" panose="020B0502040504020204" pitchFamily="34" charset="0"/>
            </a:endParaRPr>
          </a:p>
          <a:p>
            <a:pPr marL="342900" indent="-342900">
              <a:buFont typeface="+mj-lt"/>
              <a:buAutoNum type="arabicPeriod"/>
            </a:pPr>
            <a:r>
              <a:rPr lang="en-US" sz="1200" i="0" dirty="0">
                <a:solidFill>
                  <a:srgbClr val="222222"/>
                </a:solidFill>
                <a:effectLst/>
                <a:latin typeface="noto sans" panose="020B0502040504020204" pitchFamily="34" charset="0"/>
                <a:ea typeface="noto sans" panose="020B0502040504020204" pitchFamily="34" charset="0"/>
                <a:cs typeface="noto sans" panose="020B0502040504020204" pitchFamily="34" charset="0"/>
              </a:rPr>
              <a:t>Experience of the fusion of your personal self into a larger whole.</a:t>
            </a:r>
          </a:p>
          <a:p>
            <a:pPr marL="342900" indent="-342900">
              <a:buFont typeface="+mj-lt"/>
              <a:buAutoNum type="arabicPeriod"/>
            </a:pPr>
            <a:r>
              <a:rPr lang="en-US" sz="1200" i="0" dirty="0">
                <a:solidFill>
                  <a:srgbClr val="222222"/>
                </a:solidFill>
                <a:effectLst/>
                <a:latin typeface="noto sans" panose="020B0502040504020204" pitchFamily="34" charset="0"/>
                <a:ea typeface="noto sans" panose="020B0502040504020204" pitchFamily="34" charset="0"/>
                <a:cs typeface="noto sans" panose="020B0502040504020204" pitchFamily="34" charset="0"/>
              </a:rPr>
              <a:t>Experience of unity with ultimate reality.</a:t>
            </a:r>
            <a:endParaRPr lang="en-US" sz="1200" dirty="0">
              <a:solidFill>
                <a:srgbClr val="222222"/>
              </a:solidFill>
              <a:latin typeface="noto sans" panose="020B0502040504020204" pitchFamily="34" charset="0"/>
              <a:ea typeface="noto sans" panose="020B0502040504020204" pitchFamily="34" charset="0"/>
              <a:cs typeface="noto sans" panose="020B0502040504020204" pitchFamily="34" charset="0"/>
            </a:endParaRPr>
          </a:p>
          <a:p>
            <a:pPr marL="342900" indent="-342900">
              <a:buFont typeface="+mj-lt"/>
              <a:buAutoNum type="arabicPeriod"/>
            </a:pPr>
            <a:r>
              <a:rPr lang="en-US" sz="1200" i="0" dirty="0">
                <a:solidFill>
                  <a:srgbClr val="222222"/>
                </a:solidFill>
                <a:effectLst/>
                <a:latin typeface="noto sans" panose="020B0502040504020204" pitchFamily="34" charset="0"/>
                <a:ea typeface="noto sans" panose="020B0502040504020204" pitchFamily="34" charset="0"/>
                <a:cs typeface="noto sans" panose="020B0502040504020204" pitchFamily="34" charset="0"/>
              </a:rPr>
              <a:t>Feeling that you experienced eternity or infinity.</a:t>
            </a:r>
          </a:p>
          <a:p>
            <a:pPr marL="342900" indent="-342900">
              <a:buFont typeface="+mj-lt"/>
              <a:buAutoNum type="arabicPeriod"/>
            </a:pPr>
            <a:r>
              <a:rPr lang="en-US" sz="1200" i="0" dirty="0">
                <a:solidFill>
                  <a:srgbClr val="222222"/>
                </a:solidFill>
                <a:effectLst/>
                <a:latin typeface="noto sans" panose="020B0502040504020204" pitchFamily="34" charset="0"/>
                <a:ea typeface="noto sans" panose="020B0502040504020204" pitchFamily="34" charset="0"/>
                <a:cs typeface="noto sans" panose="020B0502040504020204" pitchFamily="34" charset="0"/>
              </a:rPr>
              <a:t>Experience of oneness or unity with objects and/or persons perceived in your surroundings.</a:t>
            </a:r>
            <a:endParaRPr lang="en-US" sz="1200" dirty="0">
              <a:solidFill>
                <a:srgbClr val="222222"/>
              </a:solidFill>
              <a:latin typeface="noto sans" panose="020B0502040504020204" pitchFamily="34" charset="0"/>
              <a:ea typeface="noto sans" panose="020B0502040504020204" pitchFamily="34" charset="0"/>
              <a:cs typeface="noto sans" panose="020B0502040504020204" pitchFamily="34" charset="0"/>
            </a:endParaRPr>
          </a:p>
          <a:p>
            <a:pPr marL="342900" indent="-342900">
              <a:buFont typeface="+mj-lt"/>
              <a:buAutoNum type="arabicPeriod"/>
            </a:pPr>
            <a:r>
              <a:rPr lang="en-US" sz="1200" i="0" dirty="0">
                <a:solidFill>
                  <a:srgbClr val="222222"/>
                </a:solidFill>
                <a:effectLst/>
                <a:latin typeface="noto sans" panose="020B0502040504020204" pitchFamily="34" charset="0"/>
                <a:ea typeface="noto sans" panose="020B0502040504020204" pitchFamily="34" charset="0"/>
                <a:cs typeface="noto sans" panose="020B0502040504020204" pitchFamily="34" charset="0"/>
              </a:rPr>
              <a:t>Experience of the insight that “all is One.”</a:t>
            </a:r>
          </a:p>
          <a:p>
            <a:pPr marL="342900" indent="-342900">
              <a:buFont typeface="+mj-lt"/>
              <a:buAutoNum type="arabicPeriod"/>
            </a:pPr>
            <a:r>
              <a:rPr lang="en-US" sz="1200" i="0" dirty="0">
                <a:solidFill>
                  <a:srgbClr val="222222"/>
                </a:solidFill>
                <a:effectLst/>
                <a:latin typeface="noto sans" panose="020B0502040504020204" pitchFamily="34" charset="0"/>
                <a:ea typeface="noto sans" panose="020B0502040504020204" pitchFamily="34" charset="0"/>
                <a:cs typeface="noto sans" panose="020B0502040504020204" pitchFamily="34" charset="0"/>
              </a:rPr>
              <a:t>Awareness of the life or living presence in all things.</a:t>
            </a:r>
            <a:endParaRPr lang="en-US" sz="1200" dirty="0">
              <a:solidFill>
                <a:srgbClr val="222222"/>
              </a:solidFill>
              <a:latin typeface="noto sans" panose="020B0502040504020204" pitchFamily="34" charset="0"/>
              <a:ea typeface="noto sans" panose="020B0502040504020204" pitchFamily="34" charset="0"/>
              <a:cs typeface="noto sans" panose="020B0502040504020204" pitchFamily="34" charset="0"/>
            </a:endParaRPr>
          </a:p>
          <a:p>
            <a:pPr marL="342900" indent="-342900">
              <a:buFont typeface="+mj-lt"/>
              <a:buAutoNum type="arabicPeriod"/>
            </a:pPr>
            <a:r>
              <a:rPr lang="en-US" sz="1200" i="0" dirty="0">
                <a:solidFill>
                  <a:srgbClr val="222222"/>
                </a:solidFill>
                <a:effectLst/>
                <a:latin typeface="noto sans" panose="020B0502040504020204" pitchFamily="34" charset="0"/>
                <a:ea typeface="noto sans" panose="020B0502040504020204" pitchFamily="34" charset="0"/>
                <a:cs typeface="noto sans" panose="020B0502040504020204" pitchFamily="34" charset="0"/>
              </a:rPr>
              <a:t>Gain of insightful knowledge experienced at an intuitive level.</a:t>
            </a:r>
          </a:p>
          <a:p>
            <a:pPr marL="342900" indent="-342900">
              <a:buFont typeface="+mj-lt"/>
              <a:buAutoNum type="arabicPeriod"/>
            </a:pPr>
            <a:r>
              <a:rPr lang="en-US" sz="1200" i="0" dirty="0">
                <a:solidFill>
                  <a:srgbClr val="222222"/>
                </a:solidFill>
                <a:effectLst/>
                <a:latin typeface="noto sans" panose="020B0502040504020204" pitchFamily="34" charset="0"/>
                <a:ea typeface="noto sans" panose="020B0502040504020204" pitchFamily="34" charset="0"/>
                <a:cs typeface="noto sans" panose="020B0502040504020204" pitchFamily="34" charset="0"/>
              </a:rPr>
              <a:t>Certainty of encounter with ultimate reality (in the sense of being able to “know” and “see” what is really real at some point during your experience.</a:t>
            </a:r>
          </a:p>
          <a:p>
            <a:pPr marL="342900" indent="-342900">
              <a:buFont typeface="+mj-lt"/>
              <a:buAutoNum type="arabicPeriod"/>
            </a:pPr>
            <a:r>
              <a:rPr lang="en-US" sz="1200" i="0" dirty="0">
                <a:solidFill>
                  <a:srgbClr val="222222"/>
                </a:solidFill>
                <a:effectLst/>
                <a:latin typeface="noto sans" panose="020B0502040504020204" pitchFamily="34" charset="0"/>
                <a:ea typeface="noto sans" panose="020B0502040504020204" pitchFamily="34" charset="0"/>
                <a:cs typeface="noto sans" panose="020B0502040504020204" pitchFamily="34" charset="0"/>
              </a:rPr>
              <a:t>You are convinced now, as you look back on your experience, that in it you encountered ultimate reality. </a:t>
            </a:r>
          </a:p>
          <a:p>
            <a:pPr marL="342900" indent="-342900">
              <a:buFont typeface="+mj-lt"/>
              <a:buAutoNum type="arabicPeriod"/>
            </a:pPr>
            <a:r>
              <a:rPr lang="en-US" sz="1200" i="0" dirty="0">
                <a:solidFill>
                  <a:srgbClr val="222222"/>
                </a:solidFill>
                <a:effectLst/>
                <a:latin typeface="noto sans" panose="020B0502040504020204" pitchFamily="34" charset="0"/>
                <a:ea typeface="noto sans" panose="020B0502040504020204" pitchFamily="34" charset="0"/>
                <a:cs typeface="noto sans" panose="020B0502040504020204" pitchFamily="34" charset="0"/>
              </a:rPr>
              <a:t>Sense of being at a spiritual height.</a:t>
            </a:r>
          </a:p>
          <a:p>
            <a:pPr marL="342900" indent="-342900">
              <a:buFont typeface="+mj-lt"/>
              <a:buAutoNum type="arabicPeriod"/>
            </a:pPr>
            <a:r>
              <a:rPr lang="en-US" sz="1200" i="0" dirty="0">
                <a:solidFill>
                  <a:srgbClr val="222222"/>
                </a:solidFill>
                <a:effectLst/>
                <a:latin typeface="noto sans" panose="020B0502040504020204" pitchFamily="34" charset="0"/>
                <a:ea typeface="noto sans" panose="020B0502040504020204" pitchFamily="34" charset="0"/>
                <a:cs typeface="noto sans" panose="020B0502040504020204" pitchFamily="34" charset="0"/>
              </a:rPr>
              <a:t>Sense of reverence.</a:t>
            </a:r>
          </a:p>
          <a:p>
            <a:pPr marL="342900" indent="-342900">
              <a:buFont typeface="+mj-lt"/>
              <a:buAutoNum type="arabicPeriod"/>
            </a:pPr>
            <a:r>
              <a:rPr lang="en-US" sz="1200" i="0" dirty="0">
                <a:solidFill>
                  <a:srgbClr val="222222"/>
                </a:solidFill>
                <a:effectLst/>
                <a:latin typeface="noto sans" panose="020B0502040504020204" pitchFamily="34" charset="0"/>
                <a:ea typeface="noto sans" panose="020B0502040504020204" pitchFamily="34" charset="0"/>
                <a:cs typeface="noto sans" panose="020B0502040504020204" pitchFamily="34" charset="0"/>
              </a:rPr>
              <a:t>Feeling that you experienced something profoundly sacred and holy.</a:t>
            </a:r>
            <a:endParaRPr lang="en-US" sz="1200" dirty="0">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38653937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p:txBody>
          <a:bodyPr>
            <a:normAutofit/>
          </a:bodyPr>
          <a:lstStyle/>
          <a:p>
            <a:r>
              <a:rPr lang="en-US" sz="2400" dirty="0">
                <a:solidFill>
                  <a:schemeClr val="accent5">
                    <a:lumMod val="75000"/>
                  </a:schemeClr>
                </a:solidFill>
                <a:latin typeface="Bahnschrift" panose="020B0502040204020203" pitchFamily="34" charset="0"/>
              </a:rPr>
              <a:t>MEQ30 – Rated on a 5 pt. Likert Scale</a:t>
            </a:r>
          </a:p>
        </p:txBody>
      </p:sp>
      <p:sp>
        <p:nvSpPr>
          <p:cNvPr id="8" name="Content Placeholder 7">
            <a:extLst>
              <a:ext uri="{FF2B5EF4-FFF2-40B4-BE49-F238E27FC236}">
                <a16:creationId xmlns:a16="http://schemas.microsoft.com/office/drawing/2014/main" id="{F115A4E4-DC7E-9F9E-B644-D1EEE365CE1C}"/>
              </a:ext>
            </a:extLst>
          </p:cNvPr>
          <p:cNvSpPr>
            <a:spLocks noGrp="1"/>
          </p:cNvSpPr>
          <p:nvPr>
            <p:ph idx="1"/>
          </p:nvPr>
        </p:nvSpPr>
        <p:spPr/>
        <p:txBody>
          <a:bodyPr>
            <a:noAutofit/>
          </a:bodyPr>
          <a:lstStyle/>
          <a:p>
            <a:pPr marL="342900" indent="-342900">
              <a:buFont typeface="+mj-lt"/>
              <a:buAutoNum type="arabicPeriod" startAt="16"/>
            </a:pPr>
            <a:r>
              <a:rPr lang="en-US" sz="1200" b="0" i="0" dirty="0">
                <a:solidFill>
                  <a:srgbClr val="222222"/>
                </a:solidFill>
                <a:effectLst/>
                <a:latin typeface="noto sans" panose="020B0502040504020204" pitchFamily="34" charset="0"/>
              </a:rPr>
              <a:t>Experience of amazement.</a:t>
            </a:r>
          </a:p>
          <a:p>
            <a:pPr marL="342900" indent="-342900">
              <a:buFont typeface="+mj-lt"/>
              <a:buAutoNum type="arabicPeriod" startAt="16"/>
            </a:pPr>
            <a:r>
              <a:rPr lang="en-US" sz="1200" b="0" i="0" dirty="0">
                <a:solidFill>
                  <a:srgbClr val="222222"/>
                </a:solidFill>
                <a:effectLst/>
                <a:latin typeface="noto sans" panose="020B0502040504020204" pitchFamily="34" charset="0"/>
              </a:rPr>
              <a:t>Feelings of tenderness and gentleness.</a:t>
            </a:r>
            <a:endParaRPr lang="en-US" sz="1200" dirty="0">
              <a:solidFill>
                <a:srgbClr val="222222"/>
              </a:solidFill>
              <a:latin typeface="noto sans" panose="020B0502040504020204" pitchFamily="34" charset="0"/>
            </a:endParaRPr>
          </a:p>
          <a:p>
            <a:pPr marL="342900" indent="-342900">
              <a:buFont typeface="+mj-lt"/>
              <a:buAutoNum type="arabicPeriod" startAt="16"/>
            </a:pPr>
            <a:r>
              <a:rPr lang="en-US" sz="1200" b="0" i="0" dirty="0">
                <a:solidFill>
                  <a:srgbClr val="222222"/>
                </a:solidFill>
                <a:effectLst/>
                <a:latin typeface="noto sans" panose="020B0502040504020204" pitchFamily="34" charset="0"/>
              </a:rPr>
              <a:t>Feelings of peace and tranquility.</a:t>
            </a:r>
          </a:p>
          <a:p>
            <a:pPr marL="342900" indent="-342900">
              <a:buFont typeface="+mj-lt"/>
              <a:buAutoNum type="arabicPeriod" startAt="16"/>
            </a:pPr>
            <a:r>
              <a:rPr lang="en-US" sz="1200" b="0" i="0" dirty="0">
                <a:solidFill>
                  <a:srgbClr val="222222"/>
                </a:solidFill>
                <a:effectLst/>
                <a:latin typeface="noto sans" panose="020B0502040504020204" pitchFamily="34" charset="0"/>
              </a:rPr>
              <a:t>Experience of ecstasy.</a:t>
            </a:r>
            <a:endParaRPr lang="en-US" sz="1200" dirty="0">
              <a:solidFill>
                <a:srgbClr val="222222"/>
              </a:solidFill>
              <a:latin typeface="noto sans" panose="020B0502040504020204" pitchFamily="34" charset="0"/>
            </a:endParaRPr>
          </a:p>
          <a:p>
            <a:pPr marL="342900" indent="-342900">
              <a:buFont typeface="+mj-lt"/>
              <a:buAutoNum type="arabicPeriod" startAt="16"/>
            </a:pPr>
            <a:r>
              <a:rPr lang="en-US" sz="1200" b="0" i="0" dirty="0">
                <a:solidFill>
                  <a:srgbClr val="222222"/>
                </a:solidFill>
                <a:effectLst/>
                <a:latin typeface="noto sans" panose="020B0502040504020204" pitchFamily="34" charset="0"/>
              </a:rPr>
              <a:t>Sense of awe or awesomeness.</a:t>
            </a:r>
          </a:p>
          <a:p>
            <a:pPr marL="342900" indent="-342900">
              <a:buFont typeface="+mj-lt"/>
              <a:buAutoNum type="arabicPeriod" startAt="16"/>
            </a:pPr>
            <a:r>
              <a:rPr lang="en-US" sz="1200" b="0" i="0" dirty="0">
                <a:solidFill>
                  <a:srgbClr val="222222"/>
                </a:solidFill>
                <a:effectLst/>
                <a:latin typeface="noto sans" panose="020B0502040504020204" pitchFamily="34" charset="0"/>
              </a:rPr>
              <a:t>Feelings of joy.</a:t>
            </a:r>
            <a:endParaRPr lang="en-US" sz="1200" dirty="0">
              <a:solidFill>
                <a:srgbClr val="222222"/>
              </a:solidFill>
              <a:latin typeface="noto sans" panose="020B0502040504020204" pitchFamily="34" charset="0"/>
            </a:endParaRPr>
          </a:p>
          <a:p>
            <a:pPr marL="342900" indent="-342900">
              <a:buFont typeface="+mj-lt"/>
              <a:buAutoNum type="arabicPeriod" startAt="16"/>
            </a:pPr>
            <a:r>
              <a:rPr lang="en-US" sz="1200" b="0" i="0" dirty="0">
                <a:solidFill>
                  <a:srgbClr val="222222"/>
                </a:solidFill>
                <a:effectLst/>
                <a:latin typeface="noto sans" panose="020B0502040504020204" pitchFamily="34" charset="0"/>
              </a:rPr>
              <a:t>Loss of your usual sense of time.</a:t>
            </a:r>
          </a:p>
          <a:p>
            <a:pPr marL="342900" indent="-342900">
              <a:buFont typeface="+mj-lt"/>
              <a:buAutoNum type="arabicPeriod" startAt="16"/>
            </a:pPr>
            <a:r>
              <a:rPr lang="en-US" sz="1200" b="0" i="0" dirty="0">
                <a:solidFill>
                  <a:srgbClr val="222222"/>
                </a:solidFill>
                <a:effectLst/>
                <a:latin typeface="noto sans" panose="020B0502040504020204" pitchFamily="34" charset="0"/>
              </a:rPr>
              <a:t>Loss of your usual sense of space.</a:t>
            </a:r>
            <a:endParaRPr lang="en-US" sz="1200" dirty="0">
              <a:solidFill>
                <a:srgbClr val="222222"/>
              </a:solidFill>
              <a:latin typeface="noto sans" panose="020B0502040504020204" pitchFamily="34" charset="0"/>
            </a:endParaRPr>
          </a:p>
          <a:p>
            <a:pPr marL="342900" indent="-342900">
              <a:buFont typeface="+mj-lt"/>
              <a:buAutoNum type="arabicPeriod" startAt="16"/>
            </a:pPr>
            <a:r>
              <a:rPr lang="en-US" sz="1200" b="0" i="0" dirty="0">
                <a:solidFill>
                  <a:srgbClr val="222222"/>
                </a:solidFill>
                <a:effectLst/>
                <a:latin typeface="noto sans" panose="020B0502040504020204" pitchFamily="34" charset="0"/>
              </a:rPr>
              <a:t>Loss of usual awareness of where you were.</a:t>
            </a:r>
          </a:p>
          <a:p>
            <a:pPr marL="342900" indent="-342900">
              <a:buFont typeface="+mj-lt"/>
              <a:buAutoNum type="arabicPeriod" startAt="16"/>
            </a:pPr>
            <a:r>
              <a:rPr lang="en-US" sz="1200" b="0" i="0" dirty="0">
                <a:solidFill>
                  <a:srgbClr val="222222"/>
                </a:solidFill>
                <a:effectLst/>
                <a:latin typeface="noto sans" panose="020B0502040504020204" pitchFamily="34" charset="0"/>
              </a:rPr>
              <a:t>Sense of being “outside of” time, beyond past and future.</a:t>
            </a:r>
            <a:endParaRPr lang="en-US" sz="1200" dirty="0">
              <a:solidFill>
                <a:srgbClr val="222222"/>
              </a:solidFill>
              <a:latin typeface="noto sans" panose="020B0502040504020204" pitchFamily="34" charset="0"/>
            </a:endParaRPr>
          </a:p>
          <a:p>
            <a:pPr marL="342900" indent="-342900">
              <a:buFont typeface="+mj-lt"/>
              <a:buAutoNum type="arabicPeriod" startAt="16"/>
            </a:pPr>
            <a:r>
              <a:rPr lang="en-US" sz="1200" b="0" i="0" dirty="0">
                <a:solidFill>
                  <a:srgbClr val="222222"/>
                </a:solidFill>
                <a:effectLst/>
                <a:latin typeface="noto sans" panose="020B0502040504020204" pitchFamily="34" charset="0"/>
              </a:rPr>
              <a:t>Being in a realm with no space boundaries.</a:t>
            </a:r>
          </a:p>
          <a:p>
            <a:pPr marL="342900" indent="-342900">
              <a:buFont typeface="+mj-lt"/>
              <a:buAutoNum type="arabicPeriod" startAt="16"/>
            </a:pPr>
            <a:r>
              <a:rPr lang="en-US" sz="1200" b="0" i="0" dirty="0">
                <a:solidFill>
                  <a:srgbClr val="222222"/>
                </a:solidFill>
                <a:effectLst/>
                <a:latin typeface="noto sans" panose="020B0502040504020204" pitchFamily="34" charset="0"/>
              </a:rPr>
              <a:t>Experience of timelessness.</a:t>
            </a:r>
            <a:endParaRPr lang="en-US" sz="1200" dirty="0">
              <a:solidFill>
                <a:srgbClr val="222222"/>
              </a:solidFill>
              <a:latin typeface="noto sans" panose="020B0502040504020204" pitchFamily="34" charset="0"/>
            </a:endParaRPr>
          </a:p>
          <a:p>
            <a:pPr marL="342900" indent="-342900">
              <a:buFont typeface="+mj-lt"/>
              <a:buAutoNum type="arabicPeriod" startAt="16"/>
            </a:pPr>
            <a:r>
              <a:rPr lang="en-US" sz="1200" b="0" i="0" dirty="0">
                <a:solidFill>
                  <a:srgbClr val="222222"/>
                </a:solidFill>
                <a:effectLst/>
                <a:latin typeface="noto sans" panose="020B0502040504020204" pitchFamily="34" charset="0"/>
              </a:rPr>
              <a:t>Sense that the experience cannot be described adequately in words.</a:t>
            </a:r>
          </a:p>
          <a:p>
            <a:pPr marL="342900" indent="-342900">
              <a:buFont typeface="+mj-lt"/>
              <a:buAutoNum type="arabicPeriod" startAt="16"/>
            </a:pPr>
            <a:r>
              <a:rPr lang="en-US" sz="1200" b="0" i="0" dirty="0">
                <a:solidFill>
                  <a:srgbClr val="222222"/>
                </a:solidFill>
                <a:effectLst/>
                <a:latin typeface="noto sans" panose="020B0502040504020204" pitchFamily="34" charset="0"/>
              </a:rPr>
              <a:t>Feeling that you could not do justice to your experience by describing it in words.</a:t>
            </a:r>
            <a:endParaRPr lang="en-US" sz="1200" dirty="0">
              <a:solidFill>
                <a:srgbClr val="222222"/>
              </a:solidFill>
              <a:latin typeface="noto sans" panose="020B0502040504020204" pitchFamily="34" charset="0"/>
            </a:endParaRPr>
          </a:p>
          <a:p>
            <a:pPr marL="342900" indent="-342900">
              <a:buFont typeface="+mj-lt"/>
              <a:buAutoNum type="arabicPeriod" startAt="16"/>
            </a:pPr>
            <a:r>
              <a:rPr lang="en-US" sz="1200" b="0" i="0" dirty="0">
                <a:solidFill>
                  <a:srgbClr val="222222"/>
                </a:solidFill>
                <a:effectLst/>
                <a:latin typeface="noto sans" panose="020B0502040504020204" pitchFamily="34" charset="0"/>
              </a:rPr>
              <a:t>Feeling that it would be difficult to communicate your own experience to others who have not had similar experiences.</a:t>
            </a:r>
            <a:endParaRPr lang="en-US" sz="1200" dirty="0">
              <a:latin typeface="noto sans" panose="020B0502040504020204" pitchFamily="34" charset="0"/>
              <a:ea typeface="noto sans" panose="020B0502040504020204" pitchFamily="34" charset="0"/>
              <a:cs typeface="noto sans" panose="020B0502040504020204" pitchFamily="34" charset="0"/>
            </a:endParaRPr>
          </a:p>
        </p:txBody>
      </p:sp>
    </p:spTree>
    <p:extLst>
      <p:ext uri="{BB962C8B-B14F-4D97-AF65-F5344CB8AC3E}">
        <p14:creationId xmlns:p14="http://schemas.microsoft.com/office/powerpoint/2010/main" val="460282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a:xfrm>
            <a:off x="838200" y="365125"/>
            <a:ext cx="10820400" cy="1325563"/>
          </a:xfrm>
        </p:spPr>
        <p:txBody>
          <a:bodyPr>
            <a:normAutofit/>
          </a:bodyPr>
          <a:lstStyle/>
          <a:p>
            <a:r>
              <a:rPr lang="en-US" sz="2400" dirty="0">
                <a:solidFill>
                  <a:schemeClr val="accent5">
                    <a:lumMod val="75000"/>
                  </a:schemeClr>
                </a:solidFill>
                <a:latin typeface="Bahnschrift" panose="020B0502040204020203" pitchFamily="34" charset="0"/>
              </a:rPr>
              <a:t>Fig. 1 continued – FC change predicts mystical experience</a:t>
            </a:r>
          </a:p>
        </p:txBody>
      </p:sp>
      <p:pic>
        <p:nvPicPr>
          <p:cNvPr id="7" name="Content Placeholder 6" descr="A close-up of a brain&#10;&#10;Description automatically generated">
            <a:extLst>
              <a:ext uri="{FF2B5EF4-FFF2-40B4-BE49-F238E27FC236}">
                <a16:creationId xmlns:a16="http://schemas.microsoft.com/office/drawing/2014/main" id="{CE89C647-CBC0-DAFD-7944-733C3F1DCBD2}"/>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838200" y="1895525"/>
            <a:ext cx="10515600" cy="4211537"/>
          </a:xfrm>
        </p:spPr>
      </p:pic>
    </p:spTree>
    <p:extLst>
      <p:ext uri="{BB962C8B-B14F-4D97-AF65-F5344CB8AC3E}">
        <p14:creationId xmlns:p14="http://schemas.microsoft.com/office/powerpoint/2010/main" val="18526171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p:txBody>
          <a:bodyPr/>
          <a:lstStyle/>
          <a:p>
            <a:r>
              <a:rPr lang="en-US" dirty="0">
                <a:solidFill>
                  <a:schemeClr val="accent5">
                    <a:lumMod val="75000"/>
                  </a:schemeClr>
                </a:solidFill>
                <a:latin typeface="Bahnschrift" panose="020B0502040204020203" pitchFamily="34" charset="0"/>
              </a:rPr>
              <a:t>Task-state modulated FC effects</a:t>
            </a:r>
          </a:p>
        </p:txBody>
      </p:sp>
      <p:sp>
        <p:nvSpPr>
          <p:cNvPr id="8" name="Content Placeholder 7">
            <a:extLst>
              <a:ext uri="{FF2B5EF4-FFF2-40B4-BE49-F238E27FC236}">
                <a16:creationId xmlns:a16="http://schemas.microsoft.com/office/drawing/2014/main" id="{F115A4E4-DC7E-9F9E-B644-D1EEE365CE1C}"/>
              </a:ext>
            </a:extLst>
          </p:cNvPr>
          <p:cNvSpPr>
            <a:spLocks noGrp="1"/>
          </p:cNvSpPr>
          <p:nvPr>
            <p:ph idx="1"/>
          </p:nvPr>
        </p:nvSpPr>
        <p:spPr/>
        <p:txBody>
          <a:bodyPr/>
          <a:lstStyle/>
          <a:p>
            <a:r>
              <a:rPr lang="en-US" dirty="0"/>
              <a:t>When given an audio-visual matching task under psilocybin, participants showed closer-to-baseline FC.</a:t>
            </a:r>
          </a:p>
          <a:p>
            <a:r>
              <a:rPr lang="en-US" dirty="0"/>
              <a:t>Task took about 7 minutes.</a:t>
            </a:r>
          </a:p>
          <a:p>
            <a:endParaRPr lang="en-US" dirty="0"/>
          </a:p>
        </p:txBody>
      </p:sp>
    </p:spTree>
    <p:extLst>
      <p:ext uri="{BB962C8B-B14F-4D97-AF65-F5344CB8AC3E}">
        <p14:creationId xmlns:p14="http://schemas.microsoft.com/office/powerpoint/2010/main" val="4974550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group of colorful brain images&#10;&#10;Description automatically generated with medium confidence">
            <a:extLst>
              <a:ext uri="{FF2B5EF4-FFF2-40B4-BE49-F238E27FC236}">
                <a16:creationId xmlns:a16="http://schemas.microsoft.com/office/drawing/2014/main" id="{0E1BBD16-9EA8-6B23-498E-588E48C37E8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729928" y="816503"/>
            <a:ext cx="6732144" cy="5445824"/>
          </a:xfrm>
        </p:spPr>
      </p:pic>
      <p:sp>
        <p:nvSpPr>
          <p:cNvPr id="2" name="Title 1">
            <a:extLst>
              <a:ext uri="{FF2B5EF4-FFF2-40B4-BE49-F238E27FC236}">
                <a16:creationId xmlns:a16="http://schemas.microsoft.com/office/drawing/2014/main" id="{99322026-3B27-C872-2476-4EFF85E50D7E}"/>
              </a:ext>
            </a:extLst>
          </p:cNvPr>
          <p:cNvSpPr>
            <a:spLocks noGrp="1"/>
          </p:cNvSpPr>
          <p:nvPr>
            <p:ph type="title"/>
          </p:nvPr>
        </p:nvSpPr>
        <p:spPr>
          <a:xfrm>
            <a:off x="838200" y="365125"/>
            <a:ext cx="10515600" cy="1325563"/>
          </a:xfrm>
        </p:spPr>
        <p:txBody>
          <a:bodyPr>
            <a:normAutofit/>
          </a:bodyPr>
          <a:lstStyle/>
          <a:p>
            <a:r>
              <a:rPr lang="en-US" sz="2400" dirty="0">
                <a:solidFill>
                  <a:schemeClr val="accent5">
                    <a:lumMod val="75000"/>
                  </a:schemeClr>
                </a:solidFill>
                <a:latin typeface="Bahnschrift" panose="020B0502040204020203" pitchFamily="34" charset="0"/>
              </a:rPr>
              <a:t>Fig. 4a</a:t>
            </a:r>
          </a:p>
        </p:txBody>
      </p:sp>
    </p:spTree>
    <p:extLst>
      <p:ext uri="{BB962C8B-B14F-4D97-AF65-F5344CB8AC3E}">
        <p14:creationId xmlns:p14="http://schemas.microsoft.com/office/powerpoint/2010/main" val="30359926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p:txBody>
          <a:bodyPr/>
          <a:lstStyle/>
          <a:p>
            <a:r>
              <a:rPr lang="en-US" dirty="0">
                <a:solidFill>
                  <a:schemeClr val="accent5">
                    <a:lumMod val="75000"/>
                  </a:schemeClr>
                </a:solidFill>
                <a:latin typeface="Bahnschrift" panose="020B0502040204020203" pitchFamily="34" charset="0"/>
              </a:rPr>
              <a:t>Set and Setting</a:t>
            </a:r>
          </a:p>
        </p:txBody>
      </p:sp>
      <p:sp>
        <p:nvSpPr>
          <p:cNvPr id="3" name="Content Placeholder 2">
            <a:extLst>
              <a:ext uri="{FF2B5EF4-FFF2-40B4-BE49-F238E27FC236}">
                <a16:creationId xmlns:a16="http://schemas.microsoft.com/office/drawing/2014/main" id="{8A336965-DAE7-02B2-B0F1-568BE91C2B0D}"/>
              </a:ext>
            </a:extLst>
          </p:cNvPr>
          <p:cNvSpPr>
            <a:spLocks noGrp="1"/>
          </p:cNvSpPr>
          <p:nvPr>
            <p:ph idx="1"/>
          </p:nvPr>
        </p:nvSpPr>
        <p:spPr>
          <a:xfrm>
            <a:off x="838201" y="1825625"/>
            <a:ext cx="5634038" cy="4351338"/>
          </a:xfrm>
        </p:spPr>
        <p:txBody>
          <a:bodyPr/>
          <a:lstStyle/>
          <a:p>
            <a:r>
              <a:rPr lang="en-US" dirty="0"/>
              <a:t>Roland </a:t>
            </a:r>
            <a:r>
              <a:rPr lang="en-US" dirty="0" err="1"/>
              <a:t>Griffiths’s</a:t>
            </a:r>
            <a:r>
              <a:rPr lang="en-US" dirty="0"/>
              <a:t> psilocybin therapy research has been criticized for its less-than-clinical approach.</a:t>
            </a:r>
          </a:p>
          <a:p>
            <a:r>
              <a:rPr lang="en-US" dirty="0"/>
              <a:t>Griffiths tended toward the folk traditions of psychedelic therapy, embracing the “task” of mystic experience.</a:t>
            </a:r>
          </a:p>
          <a:p>
            <a:pPr marL="0" indent="0">
              <a:buNone/>
            </a:pPr>
            <a:endParaRPr lang="en-US" dirty="0"/>
          </a:p>
        </p:txBody>
      </p:sp>
      <p:pic>
        <p:nvPicPr>
          <p:cNvPr id="1026" name="Picture 2" descr="PSYCHEDELIC MEDICINE 1, NYT">
            <a:extLst>
              <a:ext uri="{FF2B5EF4-FFF2-40B4-BE49-F238E27FC236}">
                <a16:creationId xmlns:a16="http://schemas.microsoft.com/office/drawing/2014/main" id="{D03391E9-7CE5-7F7E-2523-7039BC78BC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0" y="0"/>
            <a:ext cx="457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8E5BB16-EE90-02FA-0F05-B65BE1D355B7}"/>
              </a:ext>
            </a:extLst>
          </p:cNvPr>
          <p:cNvSpPr txBox="1"/>
          <p:nvPr/>
        </p:nvSpPr>
        <p:spPr>
          <a:xfrm>
            <a:off x="1081094" y="6563150"/>
            <a:ext cx="6534148" cy="276999"/>
          </a:xfrm>
          <a:prstGeom prst="rect">
            <a:avLst/>
          </a:prstGeom>
          <a:noFill/>
        </p:spPr>
        <p:txBody>
          <a:bodyPr wrap="square">
            <a:spAutoFit/>
          </a:bodyPr>
          <a:lstStyle/>
          <a:p>
            <a:r>
              <a:rPr lang="en-US" sz="1200" dirty="0">
                <a:solidFill>
                  <a:schemeClr val="bg2">
                    <a:lumMod val="50000"/>
                  </a:schemeClr>
                </a:solidFill>
              </a:rPr>
              <a:t>https://www.nytimes.com/2024/03/21/health/psychedelics-roland-griffiths-johns-hopkins.html</a:t>
            </a:r>
          </a:p>
        </p:txBody>
      </p:sp>
    </p:spTree>
    <p:extLst>
      <p:ext uri="{BB962C8B-B14F-4D97-AF65-F5344CB8AC3E}">
        <p14:creationId xmlns:p14="http://schemas.microsoft.com/office/powerpoint/2010/main" val="24065729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p:txBody>
          <a:bodyPr/>
          <a:lstStyle/>
          <a:p>
            <a:r>
              <a:rPr lang="en-US" dirty="0">
                <a:solidFill>
                  <a:schemeClr val="accent5">
                    <a:lumMod val="75000"/>
                  </a:schemeClr>
                </a:solidFill>
                <a:latin typeface="Bahnschrift" panose="020B0502040204020203" pitchFamily="34" charset="0"/>
              </a:rPr>
              <a:t>Set and Setting</a:t>
            </a:r>
          </a:p>
        </p:txBody>
      </p:sp>
      <p:sp>
        <p:nvSpPr>
          <p:cNvPr id="3" name="Content Placeholder 2">
            <a:extLst>
              <a:ext uri="{FF2B5EF4-FFF2-40B4-BE49-F238E27FC236}">
                <a16:creationId xmlns:a16="http://schemas.microsoft.com/office/drawing/2014/main" id="{8A336965-DAE7-02B2-B0F1-568BE91C2B0D}"/>
              </a:ext>
            </a:extLst>
          </p:cNvPr>
          <p:cNvSpPr>
            <a:spLocks noGrp="1"/>
          </p:cNvSpPr>
          <p:nvPr>
            <p:ph idx="1"/>
          </p:nvPr>
        </p:nvSpPr>
        <p:spPr>
          <a:xfrm>
            <a:off x="838201" y="1825625"/>
            <a:ext cx="5634038" cy="4351338"/>
          </a:xfrm>
        </p:spPr>
        <p:txBody>
          <a:bodyPr/>
          <a:lstStyle/>
          <a:p>
            <a:r>
              <a:rPr lang="en-US" dirty="0"/>
              <a:t>MEQ sample question: </a:t>
            </a:r>
          </a:p>
          <a:p>
            <a:pPr lvl="1"/>
            <a:r>
              <a:rPr lang="en-US" dirty="0"/>
              <a:t>Rate your sense of having </a:t>
            </a:r>
            <a:r>
              <a:rPr lang="en-US" b="0" i="0" dirty="0">
                <a:effectLst/>
              </a:rPr>
              <a:t>“profound humility before the majesty of what was felt to be sacred or holy.”</a:t>
            </a:r>
            <a:endParaRPr lang="en-US" dirty="0"/>
          </a:p>
          <a:p>
            <a:pPr marL="0" indent="0">
              <a:buNone/>
            </a:pPr>
            <a:endParaRPr lang="en-US" dirty="0"/>
          </a:p>
        </p:txBody>
      </p:sp>
      <p:pic>
        <p:nvPicPr>
          <p:cNvPr id="1026" name="Picture 2" descr="PSYCHEDELIC MEDICINE 1, NYT">
            <a:extLst>
              <a:ext uri="{FF2B5EF4-FFF2-40B4-BE49-F238E27FC236}">
                <a16:creationId xmlns:a16="http://schemas.microsoft.com/office/drawing/2014/main" id="{D03391E9-7CE5-7F7E-2523-7039BC78BC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0" y="0"/>
            <a:ext cx="457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83F6297-3B28-A967-B5BD-C41557688EB3}"/>
              </a:ext>
            </a:extLst>
          </p:cNvPr>
          <p:cNvSpPr txBox="1"/>
          <p:nvPr/>
        </p:nvSpPr>
        <p:spPr>
          <a:xfrm>
            <a:off x="1081094" y="6563150"/>
            <a:ext cx="6534148" cy="276999"/>
          </a:xfrm>
          <a:prstGeom prst="rect">
            <a:avLst/>
          </a:prstGeom>
          <a:noFill/>
        </p:spPr>
        <p:txBody>
          <a:bodyPr wrap="square">
            <a:spAutoFit/>
          </a:bodyPr>
          <a:lstStyle/>
          <a:p>
            <a:r>
              <a:rPr lang="en-US" sz="1200" dirty="0">
                <a:solidFill>
                  <a:schemeClr val="bg2">
                    <a:lumMod val="50000"/>
                  </a:schemeClr>
                </a:solidFill>
              </a:rPr>
              <a:t>https://www.nytimes.com/2024/03/21/health/psychedelics-roland-griffiths-johns-hopkins.html</a:t>
            </a:r>
          </a:p>
        </p:txBody>
      </p:sp>
    </p:spTree>
    <p:extLst>
      <p:ext uri="{BB962C8B-B14F-4D97-AF65-F5344CB8AC3E}">
        <p14:creationId xmlns:p14="http://schemas.microsoft.com/office/powerpoint/2010/main" val="13796591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p:txBody>
          <a:bodyPr/>
          <a:lstStyle/>
          <a:p>
            <a:r>
              <a:rPr lang="en-US" dirty="0">
                <a:solidFill>
                  <a:schemeClr val="accent5">
                    <a:lumMod val="75000"/>
                  </a:schemeClr>
                </a:solidFill>
                <a:latin typeface="Bahnschrift" panose="020B0502040204020203" pitchFamily="34" charset="0"/>
              </a:rPr>
              <a:t>Set and Setting</a:t>
            </a:r>
          </a:p>
        </p:txBody>
      </p:sp>
      <p:sp>
        <p:nvSpPr>
          <p:cNvPr id="3" name="Content Placeholder 2">
            <a:extLst>
              <a:ext uri="{FF2B5EF4-FFF2-40B4-BE49-F238E27FC236}">
                <a16:creationId xmlns:a16="http://schemas.microsoft.com/office/drawing/2014/main" id="{8A336965-DAE7-02B2-B0F1-568BE91C2B0D}"/>
              </a:ext>
            </a:extLst>
          </p:cNvPr>
          <p:cNvSpPr>
            <a:spLocks noGrp="1"/>
          </p:cNvSpPr>
          <p:nvPr>
            <p:ph idx="1"/>
          </p:nvPr>
        </p:nvSpPr>
        <p:spPr>
          <a:xfrm>
            <a:off x="838200" y="1825625"/>
            <a:ext cx="5105400" cy="4351338"/>
          </a:xfrm>
        </p:spPr>
        <p:txBody>
          <a:bodyPr/>
          <a:lstStyle/>
          <a:p>
            <a:r>
              <a:rPr lang="en-US" dirty="0"/>
              <a:t>Might the content of an experience modulate the persistent physiological effects of psilocybin?</a:t>
            </a:r>
          </a:p>
          <a:p>
            <a:r>
              <a:rPr lang="en-US" dirty="0"/>
              <a:t>Does within-experience FC correlate to persistent effects?</a:t>
            </a:r>
          </a:p>
          <a:p>
            <a:endParaRPr lang="en-US" dirty="0"/>
          </a:p>
        </p:txBody>
      </p:sp>
      <p:pic>
        <p:nvPicPr>
          <p:cNvPr id="1026" name="Picture 2" descr="PSYCHEDELIC MEDICINE 1, NYT">
            <a:extLst>
              <a:ext uri="{FF2B5EF4-FFF2-40B4-BE49-F238E27FC236}">
                <a16:creationId xmlns:a16="http://schemas.microsoft.com/office/drawing/2014/main" id="{D03391E9-7CE5-7F7E-2523-7039BC78BC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00" y="0"/>
            <a:ext cx="457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4DE8676-D963-0C18-768A-B51A8C24EF25}"/>
              </a:ext>
            </a:extLst>
          </p:cNvPr>
          <p:cNvSpPr txBox="1"/>
          <p:nvPr/>
        </p:nvSpPr>
        <p:spPr>
          <a:xfrm>
            <a:off x="1081094" y="6563150"/>
            <a:ext cx="6534148" cy="276999"/>
          </a:xfrm>
          <a:prstGeom prst="rect">
            <a:avLst/>
          </a:prstGeom>
          <a:noFill/>
        </p:spPr>
        <p:txBody>
          <a:bodyPr wrap="square">
            <a:spAutoFit/>
          </a:bodyPr>
          <a:lstStyle/>
          <a:p>
            <a:r>
              <a:rPr lang="en-US" sz="1200" dirty="0">
                <a:solidFill>
                  <a:schemeClr val="bg2">
                    <a:lumMod val="50000"/>
                  </a:schemeClr>
                </a:solidFill>
              </a:rPr>
              <a:t>https://www.nytimes.com/2024/03/21/health/psychedelics-roland-griffiths-johns-hopkins.html</a:t>
            </a:r>
          </a:p>
        </p:txBody>
      </p:sp>
    </p:spTree>
    <p:extLst>
      <p:ext uri="{BB962C8B-B14F-4D97-AF65-F5344CB8AC3E}">
        <p14:creationId xmlns:p14="http://schemas.microsoft.com/office/powerpoint/2010/main" val="5834272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p:txBody>
          <a:bodyPr/>
          <a:lstStyle/>
          <a:p>
            <a:r>
              <a:rPr lang="en-US" dirty="0">
                <a:solidFill>
                  <a:schemeClr val="accent5">
                    <a:lumMod val="75000"/>
                  </a:schemeClr>
                </a:solidFill>
                <a:latin typeface="Bahnschrift" panose="020B0502040204020203" pitchFamily="34" charset="0"/>
              </a:rPr>
              <a:t>Persistent decrease in hippocampal FC</a:t>
            </a:r>
          </a:p>
        </p:txBody>
      </p:sp>
      <p:sp>
        <p:nvSpPr>
          <p:cNvPr id="8" name="Content Placeholder 7">
            <a:extLst>
              <a:ext uri="{FF2B5EF4-FFF2-40B4-BE49-F238E27FC236}">
                <a16:creationId xmlns:a16="http://schemas.microsoft.com/office/drawing/2014/main" id="{F115A4E4-DC7E-9F9E-B644-D1EEE365CE1C}"/>
              </a:ext>
            </a:extLst>
          </p:cNvPr>
          <p:cNvSpPr>
            <a:spLocks noGrp="1"/>
          </p:cNvSpPr>
          <p:nvPr>
            <p:ph idx="1"/>
          </p:nvPr>
        </p:nvSpPr>
        <p:spPr/>
        <p:txBody>
          <a:bodyPr/>
          <a:lstStyle/>
          <a:p>
            <a:r>
              <a:rPr lang="en-US" dirty="0"/>
              <a:t>After 3 weeks, whole-brain FC change scores were near baseline.</a:t>
            </a:r>
          </a:p>
          <a:p>
            <a:r>
              <a:rPr lang="en-US" dirty="0"/>
              <a:t>However, persistent FC change was observed in hippocampus.</a:t>
            </a:r>
          </a:p>
          <a:p>
            <a:endParaRPr lang="en-US" dirty="0"/>
          </a:p>
          <a:p>
            <a:endParaRPr lang="en-US" dirty="0"/>
          </a:p>
        </p:txBody>
      </p:sp>
    </p:spTree>
    <p:extLst>
      <p:ext uri="{BB962C8B-B14F-4D97-AF65-F5344CB8AC3E}">
        <p14:creationId xmlns:p14="http://schemas.microsoft.com/office/powerpoint/2010/main" val="42038924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0E1BBD16-9EA8-6B23-498E-588E48C37E8B}"/>
              </a:ext>
            </a:extLst>
          </p:cNvPr>
          <p:cNvPicPr>
            <a:picLocks noGrp="1"/>
          </p:cNvPicPr>
          <p:nvPr>
            <p:ph idx="1"/>
          </p:nvPr>
        </p:nvPicPr>
        <p:blipFill>
          <a:blip r:embed="rId3">
            <a:extLst>
              <a:ext uri="{28A0092B-C50C-407E-A947-70E740481C1C}">
                <a14:useLocalDpi xmlns:a14="http://schemas.microsoft.com/office/drawing/2010/main" val="0"/>
              </a:ext>
            </a:extLst>
          </a:blip>
          <a:srcRect/>
          <a:stretch/>
        </p:blipFill>
        <p:spPr>
          <a:xfrm>
            <a:off x="2729928" y="930807"/>
            <a:ext cx="6816762" cy="5445824"/>
          </a:xfrm>
        </p:spPr>
      </p:pic>
      <p:sp>
        <p:nvSpPr>
          <p:cNvPr id="2" name="Title 1">
            <a:extLst>
              <a:ext uri="{FF2B5EF4-FFF2-40B4-BE49-F238E27FC236}">
                <a16:creationId xmlns:a16="http://schemas.microsoft.com/office/drawing/2014/main" id="{99322026-3B27-C872-2476-4EFF85E50D7E}"/>
              </a:ext>
            </a:extLst>
          </p:cNvPr>
          <p:cNvSpPr>
            <a:spLocks noGrp="1"/>
          </p:cNvSpPr>
          <p:nvPr>
            <p:ph type="title"/>
          </p:nvPr>
        </p:nvSpPr>
        <p:spPr>
          <a:xfrm>
            <a:off x="838200" y="365125"/>
            <a:ext cx="10515600" cy="1325563"/>
          </a:xfrm>
        </p:spPr>
        <p:txBody>
          <a:bodyPr>
            <a:normAutofit/>
          </a:bodyPr>
          <a:lstStyle/>
          <a:p>
            <a:r>
              <a:rPr lang="en-US" sz="2400" dirty="0">
                <a:solidFill>
                  <a:schemeClr val="accent5">
                    <a:lumMod val="75000"/>
                  </a:schemeClr>
                </a:solidFill>
                <a:latin typeface="Bahnschrift" panose="020B0502040204020203" pitchFamily="34" charset="0"/>
              </a:rPr>
              <a:t>Fig. 5a-c</a:t>
            </a:r>
          </a:p>
        </p:txBody>
      </p:sp>
    </p:spTree>
    <p:extLst>
      <p:ext uri="{BB962C8B-B14F-4D97-AF65-F5344CB8AC3E}">
        <p14:creationId xmlns:p14="http://schemas.microsoft.com/office/powerpoint/2010/main" val="1915136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0E1BBD16-9EA8-6B23-498E-588E48C37E8B}"/>
              </a:ext>
            </a:extLst>
          </p:cNvPr>
          <p:cNvPicPr>
            <a:picLocks noGrp="1"/>
          </p:cNvPicPr>
          <p:nvPr>
            <p:ph idx="1"/>
          </p:nvPr>
        </p:nvPicPr>
        <p:blipFill>
          <a:blip r:embed="rId3">
            <a:extLst>
              <a:ext uri="{28A0092B-C50C-407E-A947-70E740481C1C}">
                <a14:useLocalDpi xmlns:a14="http://schemas.microsoft.com/office/drawing/2010/main" val="0"/>
              </a:ext>
            </a:extLst>
          </a:blip>
          <a:srcRect t="9493" b="1"/>
          <a:stretch/>
        </p:blipFill>
        <p:spPr>
          <a:xfrm>
            <a:off x="4005202" y="1804988"/>
            <a:ext cx="4181595" cy="4167187"/>
          </a:xfrm>
        </p:spPr>
      </p:pic>
      <p:sp>
        <p:nvSpPr>
          <p:cNvPr id="2" name="Title 1">
            <a:extLst>
              <a:ext uri="{FF2B5EF4-FFF2-40B4-BE49-F238E27FC236}">
                <a16:creationId xmlns:a16="http://schemas.microsoft.com/office/drawing/2014/main" id="{99322026-3B27-C872-2476-4EFF85E50D7E}"/>
              </a:ext>
            </a:extLst>
          </p:cNvPr>
          <p:cNvSpPr>
            <a:spLocks noGrp="1"/>
          </p:cNvSpPr>
          <p:nvPr>
            <p:ph type="title"/>
          </p:nvPr>
        </p:nvSpPr>
        <p:spPr>
          <a:xfrm>
            <a:off x="838200" y="365125"/>
            <a:ext cx="10515600" cy="1325563"/>
          </a:xfrm>
        </p:spPr>
        <p:txBody>
          <a:bodyPr>
            <a:normAutofit/>
          </a:bodyPr>
          <a:lstStyle/>
          <a:p>
            <a:r>
              <a:rPr lang="en-US" sz="2400" dirty="0">
                <a:solidFill>
                  <a:schemeClr val="accent5">
                    <a:lumMod val="75000"/>
                  </a:schemeClr>
                </a:solidFill>
                <a:latin typeface="Bahnschrift" panose="020B0502040204020203" pitchFamily="34" charset="0"/>
              </a:rPr>
              <a:t>Fig. 5e - Schematic of hippocampal-cortical circuits</a:t>
            </a:r>
          </a:p>
        </p:txBody>
      </p:sp>
    </p:spTree>
    <p:extLst>
      <p:ext uri="{BB962C8B-B14F-4D97-AF65-F5344CB8AC3E}">
        <p14:creationId xmlns:p14="http://schemas.microsoft.com/office/powerpoint/2010/main" val="156177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p:txBody>
          <a:bodyPr/>
          <a:lstStyle/>
          <a:p>
            <a:r>
              <a:rPr lang="en-US" dirty="0">
                <a:solidFill>
                  <a:schemeClr val="accent5">
                    <a:lumMod val="75000"/>
                  </a:schemeClr>
                </a:solidFill>
                <a:latin typeface="Bahnschrift" panose="020B0502040204020203" pitchFamily="34" charset="0"/>
              </a:rPr>
              <a:t>Summary</a:t>
            </a:r>
          </a:p>
        </p:txBody>
      </p:sp>
      <p:sp>
        <p:nvSpPr>
          <p:cNvPr id="8" name="Content Placeholder 7">
            <a:extLst>
              <a:ext uri="{FF2B5EF4-FFF2-40B4-BE49-F238E27FC236}">
                <a16:creationId xmlns:a16="http://schemas.microsoft.com/office/drawing/2014/main" id="{F115A4E4-DC7E-9F9E-B644-D1EEE365CE1C}"/>
              </a:ext>
            </a:extLst>
          </p:cNvPr>
          <p:cNvSpPr>
            <a:spLocks noGrp="1"/>
          </p:cNvSpPr>
          <p:nvPr>
            <p:ph idx="1"/>
          </p:nvPr>
        </p:nvSpPr>
        <p:spPr>
          <a:xfrm>
            <a:off x="838200" y="1825625"/>
            <a:ext cx="10515600" cy="4351338"/>
          </a:xfrm>
        </p:spPr>
        <p:txBody>
          <a:bodyPr>
            <a:normAutofit/>
          </a:bodyPr>
          <a:lstStyle/>
          <a:p>
            <a:r>
              <a:rPr lang="en-US" sz="2400" dirty="0"/>
              <a:t>Dense sampling allowed for analysis of individual-specific brain changes.</a:t>
            </a:r>
          </a:p>
          <a:p>
            <a:r>
              <a:rPr lang="en-US" sz="2400" dirty="0"/>
              <a:t>Effects of arousal-matched dose of psilocybin on FC were more than 3x greater than MTP.</a:t>
            </a:r>
          </a:p>
          <a:p>
            <a:r>
              <a:rPr lang="en-US" sz="2400" dirty="0"/>
              <a:t>Mean changes in FC were as large as those between different people.</a:t>
            </a:r>
          </a:p>
          <a:p>
            <a:r>
              <a:rPr lang="en-US" sz="2400" dirty="0"/>
              <a:t>Persistent (at 3 weeks but not 6 months) changes in hippocampal FC.</a:t>
            </a:r>
          </a:p>
          <a:p>
            <a:endParaRPr lang="en-US" sz="2400" dirty="0"/>
          </a:p>
        </p:txBody>
      </p:sp>
    </p:spTree>
    <p:extLst>
      <p:ext uri="{BB962C8B-B14F-4D97-AF65-F5344CB8AC3E}">
        <p14:creationId xmlns:p14="http://schemas.microsoft.com/office/powerpoint/2010/main" val="29266577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p:txBody>
          <a:bodyPr/>
          <a:lstStyle/>
          <a:p>
            <a:r>
              <a:rPr lang="en-US" dirty="0">
                <a:solidFill>
                  <a:schemeClr val="accent5">
                    <a:lumMod val="75000"/>
                  </a:schemeClr>
                </a:solidFill>
                <a:latin typeface="Bahnschrift" panose="020B0502040204020203" pitchFamily="34" charset="0"/>
              </a:rPr>
              <a:t>Questions?</a:t>
            </a:r>
          </a:p>
        </p:txBody>
      </p:sp>
      <p:sp>
        <p:nvSpPr>
          <p:cNvPr id="8" name="Content Placeholder 7">
            <a:extLst>
              <a:ext uri="{FF2B5EF4-FFF2-40B4-BE49-F238E27FC236}">
                <a16:creationId xmlns:a16="http://schemas.microsoft.com/office/drawing/2014/main" id="{F115A4E4-DC7E-9F9E-B644-D1EEE365CE1C}"/>
              </a:ext>
            </a:extLst>
          </p:cNvPr>
          <p:cNvSpPr>
            <a:spLocks noGrp="1"/>
          </p:cNvSpPr>
          <p:nvPr>
            <p:ph idx="1"/>
          </p:nvPr>
        </p:nvSpPr>
        <p:spPr>
          <a:xfrm>
            <a:off x="838200" y="1825625"/>
            <a:ext cx="10515600" cy="4351338"/>
          </a:xfrm>
        </p:spPr>
        <p:txBody>
          <a:bodyPr>
            <a:normAutofit/>
          </a:bodyPr>
          <a:lstStyle/>
          <a:p>
            <a:r>
              <a:rPr lang="en-US" sz="2400" dirty="0"/>
              <a:t>Where does fMRI-based psychedelic research go from here?</a:t>
            </a:r>
          </a:p>
          <a:p>
            <a:r>
              <a:rPr lang="en-US" sz="2400" dirty="0"/>
              <a:t>Should neuroscientific inquiry be prioritized over therapeutic inquiry?</a:t>
            </a:r>
          </a:p>
        </p:txBody>
      </p:sp>
    </p:spTree>
    <p:extLst>
      <p:ext uri="{BB962C8B-B14F-4D97-AF65-F5344CB8AC3E}">
        <p14:creationId xmlns:p14="http://schemas.microsoft.com/office/powerpoint/2010/main" val="36137955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81B66784-BAC7-4AE7-E791-C0E5CEF03D88}"/>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560762" y="1690688"/>
            <a:ext cx="11070476" cy="3360000"/>
          </a:xfrm>
        </p:spPr>
      </p:pic>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p:txBody>
          <a:bodyPr>
            <a:normAutofit/>
          </a:bodyPr>
          <a:lstStyle/>
          <a:p>
            <a:r>
              <a:rPr lang="en-US" sz="2400" dirty="0">
                <a:solidFill>
                  <a:schemeClr val="accent5">
                    <a:lumMod val="75000"/>
                  </a:schemeClr>
                </a:solidFill>
                <a:latin typeface="Bahnschrift" panose="020B0502040204020203" pitchFamily="34" charset="0"/>
              </a:rPr>
              <a:t>Extended Fig. 1d</a:t>
            </a:r>
          </a:p>
        </p:txBody>
      </p:sp>
    </p:spTree>
    <p:extLst>
      <p:ext uri="{BB962C8B-B14F-4D97-AF65-F5344CB8AC3E}">
        <p14:creationId xmlns:p14="http://schemas.microsoft.com/office/powerpoint/2010/main" val="41374580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CD2AA-7B92-7F5C-6A12-194116B12DB4}"/>
              </a:ext>
            </a:extLst>
          </p:cNvPr>
          <p:cNvSpPr>
            <a:spLocks noGrp="1"/>
          </p:cNvSpPr>
          <p:nvPr>
            <p:ph type="title"/>
          </p:nvPr>
        </p:nvSpPr>
        <p:spPr/>
        <p:txBody>
          <a:bodyPr>
            <a:normAutofit/>
          </a:bodyPr>
          <a:lstStyle/>
          <a:p>
            <a:r>
              <a:rPr lang="en-US" sz="2400" dirty="0">
                <a:solidFill>
                  <a:schemeClr val="accent5">
                    <a:lumMod val="75000"/>
                  </a:schemeClr>
                </a:solidFill>
                <a:latin typeface="Bahnschrift" panose="020B0502040204020203" pitchFamily="34" charset="0"/>
              </a:rPr>
              <a:t>Extended Fig. 4a</a:t>
            </a:r>
          </a:p>
        </p:txBody>
      </p:sp>
      <p:pic>
        <p:nvPicPr>
          <p:cNvPr id="7" name="Content Placeholder 6" descr="A collage of different colored brain images&#10;&#10;Description automatically generated">
            <a:extLst>
              <a:ext uri="{FF2B5EF4-FFF2-40B4-BE49-F238E27FC236}">
                <a16:creationId xmlns:a16="http://schemas.microsoft.com/office/drawing/2014/main" id="{0C2F1987-117D-483D-B2E7-66D35A393F60}"/>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584060" y="74139"/>
            <a:ext cx="6106580" cy="6595417"/>
          </a:xfrm>
        </p:spPr>
      </p:pic>
    </p:spTree>
    <p:extLst>
      <p:ext uri="{BB962C8B-B14F-4D97-AF65-F5344CB8AC3E}">
        <p14:creationId xmlns:p14="http://schemas.microsoft.com/office/powerpoint/2010/main" val="40431597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918</TotalTime>
  <Words>1807</Words>
  <Application>Microsoft Office PowerPoint</Application>
  <PresentationFormat>Widescreen</PresentationFormat>
  <Paragraphs>206</Paragraphs>
  <Slides>24</Slides>
  <Notes>24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24</vt:i4>
      </vt:variant>
    </vt:vector>
  </HeadingPairs>
  <TitlesOfParts>
    <vt:vector size="33" baseType="lpstr">
      <vt:lpstr>Aptos</vt:lpstr>
      <vt:lpstr>Aptos Display</vt:lpstr>
      <vt:lpstr>Arial</vt:lpstr>
      <vt:lpstr>Bahnschrift</vt:lpstr>
      <vt:lpstr>HardingText-Bold</vt:lpstr>
      <vt:lpstr>HardingText-Regular</vt:lpstr>
      <vt:lpstr>HardingText-RegularItalic</vt:lpstr>
      <vt:lpstr>noto sans</vt:lpstr>
      <vt:lpstr>Office Theme</vt:lpstr>
      <vt:lpstr>Psilocybin desynchronizes the human brain</vt:lpstr>
      <vt:lpstr>Highlights</vt:lpstr>
      <vt:lpstr>Experiment</vt:lpstr>
      <vt:lpstr>Experiment</vt:lpstr>
      <vt:lpstr>Experiment</vt:lpstr>
      <vt:lpstr>Fig. 1 - Acute psilocybin effects on functional brain organization.</vt:lpstr>
      <vt:lpstr>Fig. 2 – Data-driven clustering of brain network variability</vt:lpstr>
      <vt:lpstr>Fig. 2 - Spatial desynchronization of cortical activity during psilocybin.</vt:lpstr>
      <vt:lpstr>FC change predicts mystical experience</vt:lpstr>
      <vt:lpstr>MEQ30 – Rated on a 5 pt. Likert Scale</vt:lpstr>
      <vt:lpstr>MEQ30 – Rated on a 5 pt. Likert Scale</vt:lpstr>
      <vt:lpstr>Fig. 1 continued – FC change predicts mystical experience</vt:lpstr>
      <vt:lpstr>Task-state modulated FC effects</vt:lpstr>
      <vt:lpstr>Fig. 4a</vt:lpstr>
      <vt:lpstr>Set and Setting</vt:lpstr>
      <vt:lpstr>Set and Setting</vt:lpstr>
      <vt:lpstr>Set and Setting</vt:lpstr>
      <vt:lpstr>Persistent decrease in hippocampal FC</vt:lpstr>
      <vt:lpstr>Fig. 5a-c</vt:lpstr>
      <vt:lpstr>Fig. 5e - Schematic of hippocampal-cortical circuits</vt:lpstr>
      <vt:lpstr>Summary</vt:lpstr>
      <vt:lpstr>Questions?</vt:lpstr>
      <vt:lpstr>Extended Fig. 1d</vt:lpstr>
      <vt:lpstr>Extended Fig. 4a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Nate Gonzales-Hess</dc:creator>
  <cp:lastModifiedBy>Nate Gonzales Hess</cp:lastModifiedBy>
  <cp:revision>62</cp:revision>
  <dcterms:created xsi:type="dcterms:W3CDTF">2024-09-10T21:45:16Z</dcterms:created>
  <dcterms:modified xsi:type="dcterms:W3CDTF">2024-09-11T23:02:04Z</dcterms:modified>
</cp:coreProperties>
</file>