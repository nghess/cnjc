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9" r:id="rId3"/>
    <p:sldId id="271" r:id="rId4"/>
    <p:sldId id="258" r:id="rId5"/>
    <p:sldId id="260" r:id="rId6"/>
    <p:sldId id="262" r:id="rId7"/>
    <p:sldId id="278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2" r:id="rId17"/>
    <p:sldId id="270" r:id="rId18"/>
    <p:sldId id="273" r:id="rId19"/>
    <p:sldId id="276" r:id="rId20"/>
    <p:sldId id="274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351" autoAdjust="0"/>
  </p:normalViewPr>
  <p:slideViewPr>
    <p:cSldViewPr snapToGrid="0">
      <p:cViewPr varScale="1">
        <p:scale>
          <a:sx n="94" d="100"/>
          <a:sy n="94" d="100"/>
        </p:scale>
        <p:origin x="50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40900-7A08-4BC6-B24F-7DB1CCCBAD6C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7A4E7-60C9-462D-82EF-3B8321F75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62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MicevirallyexpressingGCaMP5inthe </a:t>
            </a:r>
            <a:r>
              <a:rPr lang="en-US" dirty="0" err="1"/>
              <a:t>anteriorpiriformcortex</a:t>
            </a:r>
            <a:r>
              <a:rPr lang="en-US" dirty="0"/>
              <a:t>(</a:t>
            </a:r>
            <a:r>
              <a:rPr lang="en-US" dirty="0" err="1"/>
              <a:t>aPCx</a:t>
            </a:r>
            <a:r>
              <a:rPr lang="en-US" dirty="0"/>
              <a:t>)</a:t>
            </a:r>
            <a:r>
              <a:rPr lang="en-US" dirty="0" err="1"/>
              <a:t>withachroniccranialwindowimplantedabovethe</a:t>
            </a:r>
            <a:r>
              <a:rPr lang="en-US" dirty="0"/>
              <a:t> </a:t>
            </a:r>
            <a:r>
              <a:rPr lang="en-US" dirty="0" err="1"/>
              <a:t>olfactorybulb</a:t>
            </a:r>
            <a:endParaRPr lang="en-US" dirty="0"/>
          </a:p>
          <a:p>
            <a:endParaRPr lang="en-US" dirty="0"/>
          </a:p>
          <a:p>
            <a:r>
              <a:rPr lang="en-US" dirty="0">
                <a:latin typeface="Bahnschrift" panose="020B0502040204020203" pitchFamily="34" charset="0"/>
              </a:rPr>
              <a:t>Piriform </a:t>
            </a:r>
            <a:r>
              <a:rPr lang="en-US" dirty="0" err="1">
                <a:latin typeface="Bahnschrift" panose="020B0502040204020203" pitchFamily="34" charset="0"/>
              </a:rPr>
              <a:t>efferents</a:t>
            </a:r>
            <a:r>
              <a:rPr lang="en-US" dirty="0">
                <a:latin typeface="Bahnschrift" panose="020B0502040204020203" pitchFamily="34" charset="0"/>
              </a:rPr>
              <a:t> labelled</a:t>
            </a:r>
          </a:p>
          <a:p>
            <a:r>
              <a:rPr lang="en-US" dirty="0">
                <a:latin typeface="Bahnschrift" panose="020B0502040204020203" pitchFamily="34" charset="0"/>
              </a:rPr>
              <a:t>Do axonal boutons in OB encode cue reversal?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7A4E7-60C9-462D-82EF-3B8321F757E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73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DDDAD-22F0-1935-C0B7-78DB92F33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791C1-4062-1408-5C82-45CCB5C1D4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3204F-14A7-52B1-A314-6EB46C294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MicevirallyexpressingGCaMP5inthe </a:t>
            </a:r>
            <a:r>
              <a:rPr lang="en-US" dirty="0" err="1"/>
              <a:t>anteriorpiriformcortex</a:t>
            </a:r>
            <a:r>
              <a:rPr lang="en-US" dirty="0"/>
              <a:t>(</a:t>
            </a:r>
            <a:r>
              <a:rPr lang="en-US" dirty="0" err="1"/>
              <a:t>aPCx</a:t>
            </a:r>
            <a:r>
              <a:rPr lang="en-US" dirty="0"/>
              <a:t>)</a:t>
            </a:r>
            <a:r>
              <a:rPr lang="en-US" dirty="0" err="1"/>
              <a:t>withachroniccranialwindowimplantedabovethe</a:t>
            </a:r>
            <a:r>
              <a:rPr lang="en-US" dirty="0"/>
              <a:t> </a:t>
            </a:r>
            <a:r>
              <a:rPr lang="en-US" dirty="0" err="1"/>
              <a:t>olfactorybulb</a:t>
            </a:r>
            <a:endParaRPr lang="en-US" dirty="0"/>
          </a:p>
          <a:p>
            <a:endParaRPr lang="en-US" dirty="0"/>
          </a:p>
          <a:p>
            <a:r>
              <a:rPr lang="en-US" dirty="0">
                <a:latin typeface="Bahnschrift" panose="020B0502040204020203" pitchFamily="34" charset="0"/>
              </a:rPr>
              <a:t>Piriform </a:t>
            </a:r>
            <a:r>
              <a:rPr lang="en-US" dirty="0" err="1">
                <a:latin typeface="Bahnschrift" panose="020B0502040204020203" pitchFamily="34" charset="0"/>
              </a:rPr>
              <a:t>efferents</a:t>
            </a:r>
            <a:r>
              <a:rPr lang="en-US" dirty="0">
                <a:latin typeface="Bahnschrift" panose="020B0502040204020203" pitchFamily="34" charset="0"/>
              </a:rPr>
              <a:t> labelled</a:t>
            </a:r>
          </a:p>
          <a:p>
            <a:r>
              <a:rPr lang="en-US" dirty="0">
                <a:latin typeface="Bahnschrift" panose="020B0502040204020203" pitchFamily="34" charset="0"/>
              </a:rPr>
              <a:t>Do axonal boutons in OB encode cue reversal?</a:t>
            </a:r>
          </a:p>
          <a:p>
            <a:endParaRPr lang="en-US" dirty="0">
              <a:latin typeface="Bahnschrift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706B3-2684-29EB-AF62-3DD7E1972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7A4E7-60C9-462D-82EF-3B8321F757E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66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mice are these? Were they completely naïve or just naïve to this version of the task?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7A4E7-60C9-462D-82EF-3B8321F757E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278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851A9-2030-A346-A04A-65011ACA8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FB10FB-A489-68A6-8070-BE6F13E01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D16C9C-CDA2-D935-4CF6-6651A057D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Example bouton responses during block transitions sampled throughout the ‘delay </a:t>
            </a:r>
            <a:r>
              <a:rPr lang="en-US" dirty="0" err="1"/>
              <a:t>period’fromonefieldofviewinanexpertmouse</a:t>
            </a:r>
            <a:r>
              <a:rPr lang="en-US" dirty="0"/>
              <a:t>.(Top)</a:t>
            </a:r>
            <a:r>
              <a:rPr lang="en-US" dirty="0" err="1"/>
              <a:t>Odortrials</a:t>
            </a:r>
            <a:r>
              <a:rPr lang="en-US" dirty="0"/>
              <a:t>.(Bottom) </a:t>
            </a:r>
            <a:r>
              <a:rPr lang="en-US" dirty="0" err="1"/>
              <a:t>Soundtrials.Graybarsmarkthetrialoutcome</a:t>
            </a:r>
            <a:r>
              <a:rPr lang="en-US" dirty="0"/>
              <a:t>(correct–</a:t>
            </a:r>
            <a:r>
              <a:rPr lang="en-US" dirty="0" err="1"/>
              <a:t>lightgray;incorrect</a:t>
            </a:r>
            <a:r>
              <a:rPr lang="en-US" dirty="0"/>
              <a:t>–dark gray).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E41EA-4A2A-CB13-208C-8BA51BC6E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7A4E7-60C9-462D-82EF-3B8321F757E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622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01A68-1B65-227B-8CCB-651A284D7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6B5D4-1857-4382-3154-651F7E035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0ADA94-BF69-0FC1-34F0-9E622E895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Example bouton responses during block transitions sampled throughout the ‘delay </a:t>
            </a:r>
            <a:r>
              <a:rPr lang="en-US" dirty="0" err="1"/>
              <a:t>period’fromonefieldofviewinanexpertmouse</a:t>
            </a:r>
            <a:r>
              <a:rPr lang="en-US" dirty="0"/>
              <a:t>.(Top)</a:t>
            </a:r>
            <a:r>
              <a:rPr lang="en-US" dirty="0" err="1"/>
              <a:t>Odortrials</a:t>
            </a:r>
            <a:r>
              <a:rPr lang="en-US" dirty="0"/>
              <a:t>.(Bottom) </a:t>
            </a:r>
            <a:r>
              <a:rPr lang="en-US" dirty="0" err="1"/>
              <a:t>Soundtrials.Graybarsmarkthetrialoutcome</a:t>
            </a:r>
            <a:r>
              <a:rPr lang="en-US" dirty="0"/>
              <a:t>(correct–</a:t>
            </a:r>
            <a:r>
              <a:rPr lang="en-US" dirty="0" err="1"/>
              <a:t>lightgray;incorrect</a:t>
            </a:r>
            <a:r>
              <a:rPr lang="en-US" dirty="0"/>
              <a:t>–dark gray).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EA3C1-70AB-53D1-0F4A-7C8736937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7A4E7-60C9-462D-82EF-3B8321F757E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14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CDBA-5C60-FBC8-3D9E-C2922ABF8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6BA3BC-F746-36E5-E4C6-331831E63B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7D51F-4EE8-A973-D0ED-781F0DFEC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C3415-25B7-48DA-858B-AD0E1A1658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51D08-2922-25A6-4548-2596838A7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67546-5547-BF57-8281-576E6FD41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E3E6-324C-4F13-9C2F-B6CD015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60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FC973-99F8-DCAB-B74D-FFADCD3E6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C9181-ACEF-AC0D-9BE5-F19A3B45D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DE0AC-5EB8-9D5D-3C23-79A20A06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C3415-25B7-48DA-858B-AD0E1A1658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2BAB4-3857-70D2-92B2-0B4929684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40A41-B7F9-8B96-F742-4BC1A6AA4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E3E6-324C-4F13-9C2F-B6CD015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26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0CA67-F9A5-C406-299B-44FCE32F7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74291-0C3F-2A78-0EDC-C5FB82AE7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CEDCF-480D-D950-ABAE-55FDE6BB6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C3415-25B7-48DA-858B-AD0E1A1658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95241-D286-E647-ADF0-F8AF57404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6303-C7BC-A3B5-D384-BA73A29FA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E3E6-324C-4F13-9C2F-B6CD015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88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76F1E-BFE6-D40F-0A0A-B4F4A3D69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E8884-5733-38C8-3F28-C9552777BE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7061DB-A962-8A5E-FEFB-F1C09FD2C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EB974-8CC2-0114-D803-7BED9616D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C3415-25B7-48DA-858B-AD0E1A1658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4A4E2-8677-4B6A-FF63-E329D5456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8F989-3C7A-0EA3-B315-57446DC0E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E3E6-324C-4F13-9C2F-B6CD015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384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93AEC-F2A7-BECE-F3D4-296F494D6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EEDA0-C488-B1D5-4790-716AE6DA8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980EE-7A96-D044-BFE3-139C0B052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66A39-BFEB-F0CC-DC28-E33D25E075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953403-3E6D-550C-8125-D410E207D9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5CF5E5-BCCB-6422-9AA5-F6FBF07CF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C3415-25B7-48DA-858B-AD0E1A1658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92F667-4439-4DE8-1ABD-F2D8E83D4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A00AF3-46BB-C06A-5C8A-7C0ED39F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E3E6-324C-4F13-9C2F-B6CD015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64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58EE0-9E69-A042-D131-29AF5D3AC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967100-65BF-535E-224E-0A0667EF4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C3415-25B7-48DA-858B-AD0E1A1658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F9C4E3-8F24-1F61-5EF4-F711547C6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3F232-0D7F-10FF-A0F3-D27DA30AE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E3E6-324C-4F13-9C2F-B6CD015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27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5219BE-DC54-7D7F-C11E-DF74E5702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C3415-25B7-48DA-858B-AD0E1A1658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1098F8-8CC5-4A35-90B7-8E4B30255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8F93B-5ED9-7006-1955-1E2B317AA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E3E6-324C-4F13-9C2F-B6CD015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666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11F4E-D5BE-B9AB-54A2-238D14300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0AAAB-F729-16BE-740B-538508F60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FA3793-F129-653D-729C-8A23053A4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E1407-5626-2484-DB9D-F8085A72B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C3415-25B7-48DA-858B-AD0E1A1658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9922A-68AC-D215-BAED-D8EB5B009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C40473-5289-4005-119D-9E1E306C8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E3E6-324C-4F13-9C2F-B6CD015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35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1E15-1A2B-21C0-72F9-48267E4ED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38F68E-453C-DF0D-C90F-C94E9CD9A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831BE6-CBB9-3F0A-AAAA-F3A01D83F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E8156-33DA-422A-8E1B-166ACD174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C3415-25B7-48DA-858B-AD0E1A1658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C96EF5-B257-A9A8-F14C-9577D2774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D5786-D53A-C2A2-517E-6A1156061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E3E6-324C-4F13-9C2F-B6CD015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99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4E1B8-A20D-24B2-D1B8-36B8E431C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57EC3A-E956-F3C8-1564-E31C1422A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2AE78-9605-D08F-54EB-B956C7677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C3415-25B7-48DA-858B-AD0E1A1658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4ED9B-ABAE-5814-D405-3477CBBB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B2A7C-4150-1E72-05A8-0290BDD83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E3E6-324C-4F13-9C2F-B6CD015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10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150789-1A5E-C9A8-7812-4F734D653E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9D824F-F708-FF8E-E094-6B3761F26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A2036-7B14-3120-622D-2783A87E0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C3415-25B7-48DA-858B-AD0E1A1658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BF231-524F-AE08-DDD8-4556B6C94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C3A34-AC31-1933-8A5B-281B10193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1E3E6-324C-4F13-9C2F-B6CD015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96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3B1BD3-6177-0A66-4B7C-06A206B81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CA4B8-2949-72CB-813E-5C248F4956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DF5FC-6725-F6BF-8680-8462788EC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C3415-25B7-48DA-858B-AD0E1A16588B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BBEB8-1F46-E336-44E7-3F72A75B8D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4F4CA0-354A-7A7B-0048-27D0D61F0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51E3E6-324C-4F13-9C2F-B6CD01504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203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80DCD-BBD5-6455-DD4D-5273361CC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0432"/>
            <a:ext cx="8616696" cy="2979611"/>
          </a:xfrm>
          <a:scene3d>
            <a:camera prst="orthographicFront"/>
            <a:lightRig rig="threePt" dir="t"/>
          </a:scene3d>
          <a:sp3d>
            <a:bevelT prst="relaxedInset"/>
          </a:sp3d>
        </p:spPr>
        <p:txBody>
          <a:bodyPr>
            <a:noAutofit/>
          </a:bodyPr>
          <a:lstStyle/>
          <a:p>
            <a:r>
              <a:rPr lang="en-US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Aharoni" panose="02010803020104030203" pitchFamily="2" charset="-79"/>
              </a:rPr>
              <a:t>Fast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Aharoni" panose="02010803020104030203" pitchFamily="2" charset="-79"/>
              </a:rPr>
              <a:t> updating feedback from piriform cortex to the olfactory bulb relays </a:t>
            </a:r>
            <a:r>
              <a:rPr lang="en-US" sz="4400" b="1" i="0" dirty="0">
                <a:solidFill>
                  <a:srgbClr val="FDE72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m</a:t>
            </a:r>
            <a:r>
              <a:rPr lang="en-US" sz="4400" b="1" i="0" dirty="0">
                <a:solidFill>
                  <a:srgbClr val="AED84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u</a:t>
            </a:r>
            <a:r>
              <a:rPr lang="en-US" sz="4400" b="1" i="0" dirty="0">
                <a:solidFill>
                  <a:srgbClr val="5EC9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l</a:t>
            </a:r>
            <a:r>
              <a:rPr lang="en-US" sz="4400" b="1" i="0" dirty="0">
                <a:solidFill>
                  <a:srgbClr val="4AB77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t</a:t>
            </a:r>
            <a:r>
              <a:rPr lang="en-US" sz="4400" b="1" i="0" dirty="0">
                <a:solidFill>
                  <a:srgbClr val="37A47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i</a:t>
            </a:r>
            <a:r>
              <a:rPr lang="en-US" sz="4400" b="1" i="0" dirty="0">
                <a:solidFill>
                  <a:srgbClr val="2392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m</a:t>
            </a:r>
            <a:r>
              <a:rPr lang="en-US" sz="4400" b="1" i="0" dirty="0">
                <a:solidFill>
                  <a:srgbClr val="2F7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o</a:t>
            </a:r>
            <a:r>
              <a:rPr lang="en-US" sz="4400" b="1" i="0" dirty="0">
                <a:solidFill>
                  <a:srgbClr val="3B52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d</a:t>
            </a:r>
            <a:r>
              <a:rPr lang="en-US" sz="4400" b="1" i="0" dirty="0">
                <a:solidFill>
                  <a:srgbClr val="402A7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a</a:t>
            </a:r>
            <a:r>
              <a:rPr lang="en-US" sz="4400" b="1" i="0" dirty="0">
                <a:solidFill>
                  <a:srgbClr val="4401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</a:rPr>
              <a:t>l</a:t>
            </a:r>
            <a:r>
              <a:rPr lang="en-US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" panose="020B0502040204020203" pitchFamily="34" charset="0"/>
                <a:cs typeface="Aharoni" panose="02010803020104030203" pitchFamily="2" charset="-79"/>
              </a:rPr>
              <a:t> identity and reward contingency signals during rule-reversal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E8D352-754D-EB67-154A-B385A9B16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9550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Hernandez et al. 2025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Nature Communications</a:t>
            </a:r>
          </a:p>
        </p:txBody>
      </p:sp>
    </p:spTree>
    <p:extLst>
      <p:ext uri="{BB962C8B-B14F-4D97-AF65-F5344CB8AC3E}">
        <p14:creationId xmlns:p14="http://schemas.microsoft.com/office/powerpoint/2010/main" val="3588990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4A41E-1C8A-0E3B-23BF-A288CB9EE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8A232-615E-04D4-B43A-43C1448C8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9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Early Olfactory Circuit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FC68-6B9D-6771-5313-177D77D86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Images from supplement here</a:t>
            </a:r>
          </a:p>
        </p:txBody>
      </p:sp>
    </p:spTree>
    <p:extLst>
      <p:ext uri="{BB962C8B-B14F-4D97-AF65-F5344CB8AC3E}">
        <p14:creationId xmlns:p14="http://schemas.microsoft.com/office/powerpoint/2010/main" val="2412608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9C12A-57C1-B0AA-37E0-70FC82D5E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19FD6-2417-5DED-6211-122555B4A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9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Piriform Is Association Cortex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E0437-1E4E-6A42-B679-01610CF5BA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58920" cy="4351338"/>
          </a:xfrm>
        </p:spPr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“Olfactory cortex”</a:t>
            </a:r>
          </a:p>
          <a:p>
            <a:r>
              <a:rPr lang="en-US" dirty="0">
                <a:latin typeface="Bahnschrift" panose="020B0502040204020203" pitchFamily="34" charset="0"/>
              </a:rPr>
              <a:t>In humans, </a:t>
            </a:r>
            <a:r>
              <a:rPr lang="en-US" dirty="0" err="1">
                <a:latin typeface="Bahnschrift" panose="020B0502040204020203" pitchFamily="34" charset="0"/>
              </a:rPr>
              <a:t>PCx</a:t>
            </a:r>
            <a:r>
              <a:rPr lang="en-US" dirty="0">
                <a:latin typeface="Bahnschrift" panose="020B0502040204020203" pitchFamily="34" charset="0"/>
              </a:rPr>
              <a:t> represents multimodal odor information.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DF5A9CF7-2F90-FA1D-B04A-A69B092C3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897120" y="1681544"/>
            <a:ext cx="5669279" cy="5096625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858C6BCB-F960-E259-E32B-00F722BACC65}"/>
              </a:ext>
            </a:extLst>
          </p:cNvPr>
          <p:cNvSpPr txBox="1">
            <a:spLocks/>
          </p:cNvSpPr>
          <p:nvPr/>
        </p:nvSpPr>
        <p:spPr>
          <a:xfrm>
            <a:off x="10241280" y="6403150"/>
            <a:ext cx="1950720" cy="454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Kehl et al., 2024</a:t>
            </a:r>
          </a:p>
        </p:txBody>
      </p:sp>
    </p:spTree>
    <p:extLst>
      <p:ext uri="{BB962C8B-B14F-4D97-AF65-F5344CB8AC3E}">
        <p14:creationId xmlns:p14="http://schemas.microsoft.com/office/powerpoint/2010/main" val="4036015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DE36D5A-0551-7D83-75E6-FAF4C0CAD391}"/>
              </a:ext>
            </a:extLst>
          </p:cNvPr>
          <p:cNvSpPr txBox="1">
            <a:spLocks/>
          </p:cNvSpPr>
          <p:nvPr/>
        </p:nvSpPr>
        <p:spPr>
          <a:xfrm>
            <a:off x="0" y="355981"/>
            <a:ext cx="1219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Cortico-Bulbar Feedback</a:t>
            </a: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2EAA9FC2-2B26-9751-250F-5E347B8543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53143" y="1844104"/>
            <a:ext cx="9285714" cy="3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07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E5805-F579-CE5D-AACE-40E99915D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2F3F-E262-5863-FF5D-A2C22DF62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9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Experiment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18A26-FAB6-2810-EA8A-B0448359F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9908" y="1843913"/>
            <a:ext cx="8086344" cy="4351338"/>
          </a:xfrm>
        </p:spPr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Go/no-go task</a:t>
            </a:r>
          </a:p>
          <a:p>
            <a:r>
              <a:rPr lang="en-US" dirty="0">
                <a:latin typeface="Bahnschrift" panose="020B0502040204020203" pitchFamily="34" charset="0"/>
              </a:rPr>
              <a:t>Odorant and audio stimuli</a:t>
            </a:r>
          </a:p>
          <a:p>
            <a:r>
              <a:rPr lang="en-US" dirty="0">
                <a:latin typeface="Bahnschrift" panose="020B0502040204020203" pitchFamily="34" charset="0"/>
              </a:rPr>
              <a:t>Rule-reversals in block design</a:t>
            </a:r>
          </a:p>
          <a:p>
            <a:endParaRPr lang="en-US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624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C8858-2E02-0A9C-52FA-91A374FFE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C476-E479-8C7E-3486-84689E741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9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Task Design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1534A1F-28C6-31A3-23F3-8FAEF085ED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2" r="26557"/>
          <a:stretch>
            <a:fillRect/>
          </a:stretch>
        </p:blipFill>
        <p:spPr>
          <a:xfrm>
            <a:off x="1548053" y="1681544"/>
            <a:ext cx="9095894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8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ABFE4-5379-C41F-D06D-E9C595661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01746-9C16-01FE-87C4-61A555A52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9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Task Design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47C689-4720-3EB7-D075-8F58056662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08" t="8046"/>
          <a:stretch>
            <a:fillRect/>
          </a:stretch>
        </p:blipFill>
        <p:spPr>
          <a:xfrm>
            <a:off x="4342213" y="1681544"/>
            <a:ext cx="3812374" cy="441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735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834E9-5D97-9589-1575-9E28FF0CD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73748-CCD6-AD41-5682-980BA05ED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9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Behavior</a:t>
            </a:r>
          </a:p>
        </p:txBody>
      </p:sp>
      <p:pic>
        <p:nvPicPr>
          <p:cNvPr id="9" name="Content Placeholder 6">
            <a:extLst>
              <a:ext uri="{FF2B5EF4-FFF2-40B4-BE49-F238E27FC236}">
                <a16:creationId xmlns:a16="http://schemas.microsoft.com/office/drawing/2014/main" id="{94C31800-96E4-4DE0-542D-18FCF6B2CB8C}"/>
              </a:ext>
            </a:extLst>
          </p:cNvPr>
          <p:cNvPicPr>
            <a:picLocks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7813" y="1499232"/>
            <a:ext cx="10073333" cy="457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537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533B7-C331-B23F-CA9C-AE9D3B360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8D3CB6B1-0C23-707F-7373-BEF25AFF20C6}"/>
              </a:ext>
            </a:extLst>
          </p:cNvPr>
          <p:cNvPicPr>
            <a:picLocks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20989" y="1159339"/>
            <a:ext cx="9350022" cy="56063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794F52-A0E4-8789-CFFA-103157F46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9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Fast Update of Cortico-Bulbar Feedback</a:t>
            </a:r>
          </a:p>
        </p:txBody>
      </p:sp>
    </p:spTree>
    <p:extLst>
      <p:ext uri="{BB962C8B-B14F-4D97-AF65-F5344CB8AC3E}">
        <p14:creationId xmlns:p14="http://schemas.microsoft.com/office/powerpoint/2010/main" val="3756035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EBCC4-0441-6C14-3F97-0C53E4BCB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A1E2-BF84-4B75-9FCD-49D374790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9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Fast Update of Cortical Bulbar Feedback</a:t>
            </a: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F25880F6-10C7-F3F6-7843-B23055196887}"/>
              </a:ext>
            </a:extLst>
          </p:cNvPr>
          <p:cNvPicPr>
            <a:picLocks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2666" y="1681544"/>
            <a:ext cx="9066667" cy="41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1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969DB-DE45-0C5E-829D-89BF8BE03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CE805-2F3D-C23D-5EB0-89E21A1F9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9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Fast Update of Cortical Bulbar Feedback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66331970-8C44-62F1-8243-419CBE085CBE}"/>
              </a:ext>
            </a:extLst>
          </p:cNvPr>
          <p:cNvPicPr>
            <a:picLocks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4095" y="1736960"/>
            <a:ext cx="9523809" cy="49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962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57308-EE2F-4F88-7795-5AED01196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B198F-CB7A-92EB-C58F-86455AA5F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9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Individual Bouton Response Correlations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C9D163B3-1A45-5DD3-AC04-20ED49C6A279}"/>
              </a:ext>
            </a:extLst>
          </p:cNvPr>
          <p:cNvPicPr>
            <a:picLocks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4095" y="2113379"/>
            <a:ext cx="9523809" cy="263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99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243AB-54B2-8040-22FC-7BBD7FE37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3909B-26B8-F41C-2159-81D819AAE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9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Population Response Trajectories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0C4BA70A-141C-2460-3985-A2A7E52E33BC}"/>
              </a:ext>
            </a:extLst>
          </p:cNvPr>
          <p:cNvPicPr>
            <a:picLocks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96952" y="1619428"/>
            <a:ext cx="7998096" cy="523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8054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07A2E-3322-6122-E1F9-DFF057A7C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33903-2022-FD26-8609-12AAB908B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9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Population Response Trajectories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ED5DC402-8551-27EF-F3A5-D81695C9B731}"/>
              </a:ext>
            </a:extLst>
          </p:cNvPr>
          <p:cNvPicPr>
            <a:picLocks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57190" y="1619428"/>
            <a:ext cx="4677619" cy="523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629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E87D7-21F7-4FC4-8360-B8481E8CA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8C8BF-4754-8FA4-7E5A-8A2AEE659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Brief Detour</a:t>
            </a:r>
          </a:p>
        </p:txBody>
      </p:sp>
    </p:spTree>
    <p:extLst>
      <p:ext uri="{BB962C8B-B14F-4D97-AF65-F5344CB8AC3E}">
        <p14:creationId xmlns:p14="http://schemas.microsoft.com/office/powerpoint/2010/main" val="3351440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313B0-4544-7C29-B530-A85FAA179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A6477-03BC-C17D-D432-509F4ED3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9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Does Bulb Actually Care About Sound?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4DF78-DC56-EC21-D608-3D23ADAD1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9908" y="1843913"/>
            <a:ext cx="9748012" cy="4351338"/>
          </a:xfrm>
        </p:spPr>
        <p:txBody>
          <a:bodyPr/>
          <a:lstStyle/>
          <a:p>
            <a:r>
              <a:rPr lang="en-US" dirty="0">
                <a:latin typeface="Bahnschrift" panose="020B0502040204020203" pitchFamily="34" charset="0"/>
              </a:rPr>
              <a:t>In the multimodal task, we might infer that sound is useful to bulb because it provides information about odor.</a:t>
            </a:r>
          </a:p>
          <a:p>
            <a:r>
              <a:rPr lang="en-US" dirty="0">
                <a:latin typeface="Bahnschrift" panose="020B0502040204020203" pitchFamily="34" charset="0"/>
              </a:rPr>
              <a:t>Would an auditory-only task elicit cortico-bulbar responses? </a:t>
            </a:r>
          </a:p>
          <a:p>
            <a:endParaRPr lang="en-US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214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59AA1-04BB-671E-03E6-8C5E31613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DB72B-6E4F-A972-C329-741A271B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9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Auditory-Only Go/No-Go Task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C337B6C-28D0-DF2A-5CFD-F4BC7A490304}"/>
              </a:ext>
            </a:extLst>
          </p:cNvPr>
          <p:cNvPicPr>
            <a:picLocks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3223" y="2269508"/>
            <a:ext cx="10145554" cy="2318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774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23385-7151-CBF9-E97F-5FD14C9AC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2A053-ACE4-A067-72E0-A812C8DD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9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Auditory-Only Go/No-Go Task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3EEDE3FB-F617-385A-FBF2-A16FD8605173}"/>
              </a:ext>
            </a:extLst>
          </p:cNvPr>
          <p:cNvPicPr>
            <a:picLocks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4095" y="1788468"/>
            <a:ext cx="9523809" cy="384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749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B4764-B47D-7FBF-DD31-25433CA0C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F39A-B5E4-3F22-FFD1-DCF30FAE1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Back To Multimodal Task</a:t>
            </a:r>
          </a:p>
        </p:txBody>
      </p:sp>
    </p:spTree>
    <p:extLst>
      <p:ext uri="{BB962C8B-B14F-4D97-AF65-F5344CB8AC3E}">
        <p14:creationId xmlns:p14="http://schemas.microsoft.com/office/powerpoint/2010/main" val="42552693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48A99-D2E4-664A-E408-24D4849A3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DE719-1D0A-B845-F03D-95C9DA85F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9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Fast Updating Feedback Activity</a:t>
            </a: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E62DCF70-4092-EF74-F748-C43106664910}"/>
              </a:ext>
            </a:extLst>
          </p:cNvPr>
          <p:cNvPicPr>
            <a:picLocks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8425" y="1681544"/>
            <a:ext cx="9935150" cy="358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69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27260-64FF-4F28-1A6D-FF8C67874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73A0-311A-56D6-7F2C-C8072B073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981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Bahnschrift" panose="020B0502040204020203" pitchFamily="34" charset="0"/>
              </a:rPr>
              <a:t>Fast Updating Feedback Activity</a:t>
            </a: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F737F29C-DE52-0E9D-F9B5-3A9A69E6EB96}"/>
              </a:ext>
            </a:extLst>
          </p:cNvPr>
          <p:cNvPicPr>
            <a:picLocks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8425" y="1681544"/>
            <a:ext cx="9935149" cy="358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172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1536</TotalTime>
  <Words>291</Words>
  <Application>Microsoft Office PowerPoint</Application>
  <PresentationFormat>Widescreen</PresentationFormat>
  <Paragraphs>48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Bahnschrift</vt:lpstr>
      <vt:lpstr>Office Theme</vt:lpstr>
      <vt:lpstr>Fast updating feedback from piriform cortex to the olfactory bulb relays multimodal identity and reward contingency signals during rule-reversal</vt:lpstr>
      <vt:lpstr>Early Olfactory Circuit</vt:lpstr>
      <vt:lpstr>Piriform Is Association Cortex</vt:lpstr>
      <vt:lpstr>PowerPoint Presentation</vt:lpstr>
      <vt:lpstr>Experiment 1</vt:lpstr>
      <vt:lpstr>Task Design</vt:lpstr>
      <vt:lpstr>Task Design</vt:lpstr>
      <vt:lpstr>Behavior</vt:lpstr>
      <vt:lpstr>Fast Update of Cortico-Bulbar Feedback</vt:lpstr>
      <vt:lpstr>Fast Update of Cortical Bulbar Feedback</vt:lpstr>
      <vt:lpstr>Fast Update of Cortical Bulbar Feedback</vt:lpstr>
      <vt:lpstr>Individual Bouton Response Correlations</vt:lpstr>
      <vt:lpstr>Population Response Trajectories</vt:lpstr>
      <vt:lpstr>Population Response Trajectories</vt:lpstr>
      <vt:lpstr>Brief Detour</vt:lpstr>
      <vt:lpstr>Does Bulb Actually Care About Sound?</vt:lpstr>
      <vt:lpstr>Auditory-Only Go/No-Go Task</vt:lpstr>
      <vt:lpstr>Auditory-Only Go/No-Go Task</vt:lpstr>
      <vt:lpstr>Back To Multimodal Task</vt:lpstr>
      <vt:lpstr>Fast Updating Feedback Activity</vt:lpstr>
      <vt:lpstr>Fast Updating Feedback 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Nate Gonzales-Hess</dc:creator>
  <cp:lastModifiedBy>Nate Gonzales-Hess</cp:lastModifiedBy>
  <cp:revision>17</cp:revision>
  <dcterms:created xsi:type="dcterms:W3CDTF">2026-04-14T03:57:07Z</dcterms:created>
  <dcterms:modified xsi:type="dcterms:W3CDTF">2026-04-15T05:37:59Z</dcterms:modified>
</cp:coreProperties>
</file>